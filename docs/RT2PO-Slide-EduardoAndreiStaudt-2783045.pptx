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2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72a833b4-134c-916f-56f8-54e5083febe0}">
          <p14:sldIdLst>
            <p14:sldId id="256"/>
            <p14:sldId id="257"/>
          </p14:sldIdLst>
        </p14:section>
        <p14:section name="Teoria" id="{8f64fe2c-24c5-2d97-e361-02b43d3f83b4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Aplicações" id="{9b208523-fc98-cf99-81f7-659305b9fcd7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Fechamento" id="{6f76adeb-b39e-6e60-4468-7cbd1e359c3d}">
          <p14:sldIdLst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1F2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C1F23"/>
                </a:solidFill>
                <a:latin typeface="+mn-lt"/>
              </a:rPr>
              <a:t>Custo do gbest por iteração (escala log)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 do gbest</c:v>
                </c:pt>
              </c:strCache>
            </c:strRef>
          </c:tx>
          <c:spPr>
            <a:solidFill>
              <a:srgbClr val="E8590C"/>
            </a:solidFill>
            <a:ln w="38100" cap="flat">
              <a:solidFill>
                <a:srgbClr val="E859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8590C"/>
              </a:solidFill>
              <a:ln w="9525" cap="flat">
                <a:solidFill>
                  <a:srgbClr val="E859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  <c:pt idx="8">
                    <c:v>40</c:v>
                  </c:pt>
                  <c:pt idx="9">
                    <c:v>45</c:v>
                  </c:pt>
                  <c:pt idx="10">
                    <c:v>50</c:v>
                  </c:pt>
                  <c:pt idx="11">
                    <c:v>55</c:v>
                  </c:pt>
                  <c:pt idx="12">
                    <c:v>60</c:v>
                  </c:pt>
                  <c:pt idx="13">
                    <c:v>65</c:v>
                  </c:pt>
                  <c:pt idx="14">
                    <c:v>70</c:v>
                  </c:pt>
                  <c:pt idx="15">
                    <c:v>75</c:v>
                  </c:pt>
                  <c:pt idx="16">
                    <c:v>80</c:v>
                  </c:pt>
                  <c:pt idx="17">
                    <c:v>85</c:v>
                  </c:pt>
                  <c:pt idx="18">
                    <c:v>90</c:v>
                  </c:pt>
                  <c:pt idx="19">
                    <c:v>95</c:v>
                  </c:pt>
                  <c:pt idx="20">
                    <c:v>100</c:v>
                  </c:pt>
                  <c:pt idx="21">
                    <c:v>105</c:v>
                  </c:pt>
                  <c:pt idx="22">
                    <c:v>110</c:v>
                  </c:pt>
                  <c:pt idx="23">
                    <c:v>115</c:v>
                  </c:pt>
                  <c:pt idx="24">
                    <c:v>120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5119</c:v>
                </c:pt>
                <c:pt idx="1">
                  <c:v>2456</c:v>
                </c:pt>
                <c:pt idx="2">
                  <c:v>333</c:v>
                </c:pt>
                <c:pt idx="3">
                  <c:v>324</c:v>
                </c:pt>
                <c:pt idx="4">
                  <c:v>299</c:v>
                </c:pt>
                <c:pt idx="5">
                  <c:v>284</c:v>
                </c:pt>
                <c:pt idx="6">
                  <c:v>284</c:v>
                </c:pt>
                <c:pt idx="7">
                  <c:v>284</c:v>
                </c:pt>
                <c:pt idx="8">
                  <c:v>280</c:v>
                </c:pt>
                <c:pt idx="9">
                  <c:v>280</c:v>
                </c:pt>
                <c:pt idx="10">
                  <c:v>280</c:v>
                </c:pt>
                <c:pt idx="11">
                  <c:v>280</c:v>
                </c:pt>
                <c:pt idx="12">
                  <c:v>279</c:v>
                </c:pt>
                <c:pt idx="13">
                  <c:v>278</c:v>
                </c:pt>
                <c:pt idx="14">
                  <c:v>278</c:v>
                </c:pt>
                <c:pt idx="15">
                  <c:v>278</c:v>
                </c:pt>
                <c:pt idx="16">
                  <c:v>277</c:v>
                </c:pt>
                <c:pt idx="17">
                  <c:v>277</c:v>
                </c:pt>
                <c:pt idx="18">
                  <c:v>277</c:v>
                </c:pt>
                <c:pt idx="19">
                  <c:v>277</c:v>
                </c:pt>
                <c:pt idx="20">
                  <c:v>276</c:v>
                </c:pt>
                <c:pt idx="21">
                  <c:v>276</c:v>
                </c:pt>
                <c:pt idx="22">
                  <c:v>276</c:v>
                </c:pt>
                <c:pt idx="23">
                  <c:v>276</c:v>
                </c:pt>
                <c:pt idx="24">
                  <c:v>275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95057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95057"/>
                    </a:solidFill>
                    <a:latin typeface="Arial"/>
                  </a:rPr>
                  <a:t>iteração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9505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logBase val="10"/>
          <c:orientation val="minMax"/>
        </c:scaling>
        <c:delete val="0"/>
        <c:axPos val="l"/>
        <c:majorGridlines>
          <c:spPr>
            <a:ln w="9525" cap="flat">
              <a:solidFill>
                <a:srgbClr val="E9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9505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1F2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C1F23"/>
                </a:solidFill>
                <a:latin typeface="+mn-lt"/>
              </a:rPr>
              <a:t>Erro de classificação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Validação</c:v>
                </c:pt>
              </c:strCache>
            </c:strRef>
          </c:tx>
          <c:spPr>
            <a:solidFill>
              <a:srgbClr val="ADB5B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F2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Configuração padrão</c:v>
                  </c:pt>
                  <c:pt idx="1">
                    <c:v>Melhor do PSO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3.97</c:v>
                </c:pt>
                <c:pt idx="1">
                  <c:v>2.12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Teste</c:v>
                </c:pt>
              </c:strCache>
            </c:strRef>
          </c:tx>
          <c:spPr>
            <a:solidFill>
              <a:srgbClr val="3B5BD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F2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Configuração padrão</c:v>
                  </c:pt>
                  <c:pt idx="1">
                    <c:v>Melhor do PSO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2.78</c:v>
                </c:pt>
                <c:pt idx="1">
                  <c:v>2.04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C1F2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505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9525" cap="flat">
              <a:solidFill>
                <a:srgbClr val="E9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9505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Apresentar o tema: PSO, uma meta-heurística inspirada no comportamento de bandos. O foco do trabalho são as aplicações reais.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 caminho: tema, pesquisa bibliográfica, estudo do algoritmo, escolha das aplicações, estudo dos casos e produção dos slides e do relatório. O QR Code fica reservado para material complementar.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Otimização é escolher a melhor opção. Meta-heurística troca a garantia de ótimo por velocidade. Linha do tempo: Reynolds 1987 com os boids, o PSO em 1995 na conferência IEEE de redes neurais, depois as melhorias de 1997, 1998 e 2002.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 do bando. Cada pássaro é uma partícula, a comida é o ótimo, o faro é a função fitness. Anatomia: posição, velocidade, pbest e gbest.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nova velocidade é a soma de três parcelas: inércia em cinza, cognitiva em azul e social em laranja. Depois a posição anda essa velocidade. O PSO original de 1995 não tinha o w, ele veio em 1998.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 animação: primeiro a inércia, depois a cognitiva puxando para o pbest, depois a social puxando para o gbest, e a soma vira a nova velocidade.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primeiras mexem na convergência. As duas últimas levam o PSO para problemas discretos. A chave aleatória é a que aparece na aplicação do vidro.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a analogia do Wi-Fi: cada aluno anda com o celular. w é o embalo da caminhada, c1 é a confiança na própria memória, c2 é seguir o colega com cinco barras, Vmax é o passo máximo.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Percorrer o fluxograma e mostrar a animação ao lado. Repare que o enxame passa por vales locais antes de se juntar no vale mais fundo.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Topologia define de quem a partícula recebe o gbest. Global converge rápido, anel explora mais e evita ótimo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Fazer a conta junto com a turma. A força social domina porque o gbest está longe. A partícula pula de 4 para 0,35 e atualiza pbest e gbest.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mostra a variedade de áreas. Os três cartões em branco são clicáveis e levam direto para cada aplicação. A sala de controle do fundo é onde se decide o despacho de energia, outro uso clássico do PSO.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vidro é problema discreto, mas o PSO é contínuo. A saída é a chave aleatória: o enxame mexe em números reais e a ordenação transforma isso em sequência. Lembrar que cortar vidro exige corte de ponta a ponta, por isso a heurística trabalha em faixas.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ordem do pedido foram três chapas. Com a ordem do gbest, duas. A perda sem contar o retalho caiu de 4,8 para 1,6 metros quadrados. O plano vai direto para a mesa CNC.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 que o show de luzes em si não usa PSO, é coreografia. O PSO resolve o planejamento: cada partícula é um conjunto de rotas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fitness soma o comprimento com penalidades. Os lambdas são pesos grandes, então qualquer rota que bate fica muito cara. No gráfico, o custo despenca nas primeiras 25 iterações, quando as rotas param de atravessar obstáculos.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Comparar os dois mapas. O comprimento caiu 44 por cento e as invasões zeraram. Citar o PPSwarm para mostrar que isso escala para centenas de drones.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cada partícula é uma configuração de rede. A parte cara é a fitness, porque cada avaliação é um treino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PSO achou uma configuração com mais neurônios, taxa de aprendizado maior e mais regularização. O erro de teste caiu de 2,8 para 2,0 por cento. Ser honesto: o problema é fácil, o ganho real aparece em redes grandes.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principal fraqueza citada na literatura é a convergência prematura segundo Shami et al. (2022). As variantes e as topologias existem justamente para atacar 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Posicionar o PSO: é o algoritmo de enxame mais publicado. Destacar pesquisa operacional, que é a área da disciplina.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as três ideias e a frase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Referências em ABNT.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Agradecer e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1C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Andrei Staudt - RA 2783045 - UTFPR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C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E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Andrei Staudt - RA 2783045 - UTFPR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gif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gif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" Target="slide13.xml"/><Relationship Id="rId8" Type="http://schemas.openxmlformats.org/officeDocument/2006/relationships/slide" Target="slide15.xml"/><Relationship Id="rId10" Type="http://schemas.openxmlformats.org/officeDocument/2006/relationships/slide" Target="slide18.xml"/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7" Type="http://schemas.openxmlformats.org/officeDocument/2006/relationships/image" Target="../media/image-12-6.png"/><Relationship Id="rId9" Type="http://schemas.openxmlformats.org/officeDocument/2006/relationships/image" Target="../media/image-12-7.png"/><Relationship Id="rId11" Type="http://schemas.openxmlformats.org/officeDocument/2006/relationships/image" Target="../media/image-12-8.png"/><Relationship Id="rId12" Type="http://schemas.openxmlformats.org/officeDocument/2006/relationships/image" Target="../media/image-12-9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1.png"/><Relationship Id="rId3" Type="http://schemas.openxmlformats.org/officeDocument/2006/relationships/image" Target="../media/image-20-1.png"/><Relationship Id="rId4" Type="http://schemas.openxmlformats.org/officeDocument/2006/relationships/image" Target="../media/image-20-1.png"/><Relationship Id="rId5" Type="http://schemas.openxmlformats.org/officeDocument/2006/relationships/image" Target="../media/image-20-1.png"/><Relationship Id="rId6" Type="http://schemas.openxmlformats.org/officeDocument/2006/relationships/image" Target="../media/image-20-6.png"/><Relationship Id="rId7" Type="http://schemas.openxmlformats.org/officeDocument/2006/relationships/image" Target="../media/image-20-6.png"/><Relationship Id="rId8" Type="http://schemas.openxmlformats.org/officeDocument/2006/relationships/image" Target="../media/image-20-6.png"/><Relationship Id="rId9" Type="http://schemas.openxmlformats.org/officeDocument/2006/relationships/image" Target="../media/image-20-6.png"/><Relationship Id="rId10" Type="http://schemas.openxmlformats.org/officeDocument/2006/relationships/image" Target="../media/image-20-6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gif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6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UTFPR / Universidade Tecnológica Federal do Paraná</a:t>
            </a:r>
            <a:endParaRPr lang="pt-BR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070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da Computação - Pesquisa e Ordenação (CC4PO)</a:t>
            </a:r>
            <a:endParaRPr lang="pt-BR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5740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4400" b="1" dirty="0">
                <a:solidFill>
                  <a:srgbClr val="1C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Particle Swarm Optimization (PSO)</a:t>
            </a:r>
            <a:endParaRPr lang="pt-BR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5204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2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por enxame de partículas: como funciona e onde é aplicada na prática</a:t>
            </a:r>
            <a:endParaRPr lang="pt-BR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7091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8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Andrei Staudt</a:t>
            </a:r>
            <a:endParaRPr lang="pt-BR" sz="1500" dirty="0"/>
          </a:p>
          <a:p>
            <a:pPr indent="0" marL="0">
              <a:buNone/>
            </a:pPr>
            <a:r>
              <a:rPr lang="pt-BR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2783045</a:t>
            </a:r>
            <a:endParaRPr lang="pt-BR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3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Helena, PR - 2026</a:t>
            </a:r>
            <a:endParaRPr lang="pt-BR" sz="1300" dirty="0"/>
          </a:p>
        </p:txBody>
      </p:sp>
      <p:pic>
        <p:nvPicPr>
          <p:cNvPr id="8" name="enxame_capa" descr="assets/capa_enx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23444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3400" b="1" dirty="0">
                <a:solidFill>
                  <a:srgbClr val="1C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Metodologia do trabalho</a:t>
            </a:r>
            <a:endParaRPr lang="pt-BR" sz="3400" dirty="0"/>
          </a:p>
        </p:txBody>
      </p:sp>
      <p:sp>
        <p:nvSpPr>
          <p:cNvPr id="3" name="pagina"/>
          <p:cNvSpPr txBox="1"/>
          <p:nvPr/>
        </p:nvSpPr>
        <p:spPr>
          <a:xfrm>
            <a:off x="1110996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1000" dirty="0">
                <a:solidFill>
                  <a:srgbClr val="868E96"/>
                </a:solidFill>
              </a:rPr>
              <a:t>1</a:t>
            </a:r>
            <a:endParaRPr lang="pt-BR" sz="1000" dirty="0"/>
          </a:p>
        </p:txBody>
      </p:sp>
      <p:sp>
        <p:nvSpPr>
          <p:cNvPr id="4" name="bloco"/>
          <p:cNvSpPr txBox="1"/>
          <p:nvPr/>
        </p:nvSpPr>
        <p:spPr>
          <a:xfrm>
            <a:off x="548640" y="13716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pt-BR" sz="1500" dirty="0"/>
          </a:p>
          <a:p>
            <a:pPr indent="0" marL="0">
              <a:buNone/>
            </a:pPr>
            <a:r>
              <a:rPr lang="pt-BR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estudo da meta-heurística Particle Swarm Optimization. A ideia foi entender como o algoritmo funciona por dentro e, principalmente, ver como ele resolve problemas reais.</a:t>
            </a:r>
            <a:endParaRPr lang="pt-BR" sz="1500" dirty="0"/>
          </a:p>
        </p:txBody>
      </p:sp>
      <p:sp>
        <p:nvSpPr>
          <p:cNvPr id="5" name="bloco"/>
          <p:cNvSpPr txBox="1"/>
          <p:nvPr/>
        </p:nvSpPr>
        <p:spPr>
          <a:xfrm>
            <a:off x="548640" y="246888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foi feito</a:t>
            </a:r>
            <a:endParaRPr lang="pt-BR" sz="1500" dirty="0"/>
          </a:p>
          <a:p>
            <a:pPr indent="0" marL="0">
              <a:buNone/>
            </a:pPr>
            <a:r>
              <a:rPr lang="pt-BR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bibliográfica em artigos, revisões e livros da área. Depois, estudo das equações, dos parâmetros e de três aplicações bem diferentes entre si, com uma pequena simulação própria para cada uma.</a:t>
            </a:r>
            <a:endParaRPr lang="pt-BR" sz="1500" dirty="0"/>
          </a:p>
        </p:txBody>
      </p:sp>
      <p:sp>
        <p:nvSpPr>
          <p:cNvPr id="6" name="bloco"/>
          <p:cNvSpPr txBox="1"/>
          <p:nvPr/>
        </p:nvSpPr>
        <p:spPr>
          <a:xfrm>
            <a:off x="548640" y="36118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estudadas</a:t>
            </a:r>
            <a:endParaRPr lang="pt-BR" sz="1500" dirty="0"/>
          </a:p>
          <a:p>
            <a:pPr indent="0" marL="0">
              <a:buNone/>
            </a:pPr>
            <a:r>
              <a:rPr lang="pt-BR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de vidro em vidraçaria, rotas de enxames de drones e ajuste de hiperparâmetros de redes neurais.</a:t>
            </a:r>
            <a:endParaRPr lang="pt-BR" sz="1500" dirty="0"/>
          </a:p>
        </p:txBody>
      </p:sp>
      <p:sp>
        <p:nvSpPr>
          <p:cNvPr id="7" name="card"/>
          <p:cNvSpPr/>
          <p:nvPr/>
        </p:nvSpPr>
        <p:spPr>
          <a:xfrm>
            <a:off x="548640" y="4663440"/>
            <a:ext cx="6035040" cy="1508760"/>
          </a:xfrm>
          <a:prstGeom prst="roundRect">
            <a:avLst>
              <a:gd name="adj" fmla="val 7273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9377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complementar</a:t>
            </a:r>
            <a:endParaRPr lang="pt-BR" sz="1500" dirty="0"/>
          </a:p>
          <a:p>
            <a:pPr indent="0" marL="0">
              <a:buNone/>
            </a:pPr>
            <a:r>
              <a:rPr lang="pt-BR" sz="13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Aponte a câmera para o QR Code ao lado</a:t>
            </a:r>
            <a:endParaRPr lang="pt-BR" sz="1500" dirty="0"/>
          </a:p>
        </p:txBody>
      </p:sp>
      <p:sp>
        <p:nvSpPr>
          <p:cNvPr id="9" name="qrcode_espaco"/>
          <p:cNvSpPr/>
          <p:nvPr/>
        </p:nvSpPr>
        <p:spPr>
          <a:xfrm>
            <a:off x="5074920" y="4800600"/>
            <a:ext cx="12344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qrcode_texto"/>
          <p:cNvSpPr txBox="1"/>
          <p:nvPr/>
        </p:nvSpPr>
        <p:spPr>
          <a:xfrm>
            <a:off x="5074920" y="480060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endParaRPr lang="pt-BR" sz="1100" dirty="0"/>
          </a:p>
        </p:txBody>
      </p:sp>
      <p:pic>
        <p:nvPicPr>
          <p:cNvPr id="11" name="metodologia" descr="assets/metod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234440"/>
            <a:ext cx="2697480" cy="4940440"/>
          </a:xfrm>
          <a:prstGeom prst="rect">
            <a:avLst/>
          </a:prstGeom>
        </p:spPr>
      </p:pic>
      <p:sp>
        <p:nvSpPr>
          <p:cNvPr id="12" name="legenda"/>
          <p:cNvSpPr txBox="1"/>
          <p:nvPr/>
        </p:nvSpPr>
        <p:spPr>
          <a:xfrm>
            <a:off x="6949440" y="60533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05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1 - Etapas da metodologia. Fonte: autoria própria.</a:t>
            </a:r>
            <a:endParaRPr lang="pt-BR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3400" b="1" dirty="0">
                <a:solidFill>
                  <a:srgbClr val="1C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e origem</a:t>
            </a:r>
            <a:endParaRPr lang="pt-BR" sz="3400" dirty="0"/>
          </a:p>
        </p:txBody>
      </p:sp>
      <p:sp>
        <p:nvSpPr>
          <p:cNvPr id="3" name="pagina"/>
          <p:cNvSpPr txBox="1"/>
          <p:nvPr/>
        </p:nvSpPr>
        <p:spPr>
          <a:xfrm>
            <a:off x="1110996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1000" dirty="0">
                <a:solidFill>
                  <a:srgbClr val="868E96"/>
                </a:solidFill>
              </a:rPr>
              <a:t>2</a:t>
            </a:r>
            <a:endParaRPr lang="pt-BR" sz="10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" name="bloco"/>
          <p:cNvSpPr txBox="1"/>
          <p:nvPr/>
        </p:nvSpPr>
        <p:spPr>
          <a:xfrm>
            <a:off x="822960" y="155448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</a:t>
            </a:r>
            <a:endParaRPr lang="pt-BR" sz="1500" dirty="0"/>
          </a:p>
          <a:p>
            <a:pPr indent="0" marL="0">
              <a:buNone/>
            </a:pPr>
            <a:r>
              <a:rPr lang="pt-BR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a melhor solução entre muitas possíveis. Menor custo, menor desperdício, menor erro. O problema é que, em casos reais, as combinações são tantas que testar tudo é inviável.</a:t>
            </a:r>
            <a:endParaRPr lang="pt-BR" sz="1500" dirty="0"/>
          </a:p>
        </p:txBody>
      </p:sp>
      <p:sp>
        <p:nvSpPr>
          <p:cNvPr id="6" name="card"/>
          <p:cNvSpPr/>
          <p:nvPr/>
        </p:nvSpPr>
        <p:spPr>
          <a:xfrm>
            <a:off x="548640" y="3794760"/>
            <a:ext cx="5394960" cy="2331720"/>
          </a:xfrm>
          <a:prstGeom prst="roundRect">
            <a:avLst>
              <a:gd name="adj" fmla="val 4706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" name="bloco"/>
          <p:cNvSpPr txBox="1"/>
          <p:nvPr/>
        </p:nvSpPr>
        <p:spPr>
          <a:xfrm>
            <a:off x="822960" y="397764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Meta-heurística</a:t>
            </a:r>
            <a:endParaRPr lang="pt-BR" sz="1500" dirty="0"/>
          </a:p>
          <a:p>
            <a:pPr indent="0" marL="0">
              <a:buNone/>
            </a:pPr>
            <a:r>
              <a:rPr lang="pt-BR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busca que não garante o ótimo, mas encontra soluções muito boas em tempo viável. Não precisa de derivada nem de fórmula fechada, só de um jeito de dizer se uma solução é boa ou ruim.</a:t>
            </a:r>
            <a:endParaRPr lang="pt-BR" sz="1500" dirty="0"/>
          </a:p>
        </p:txBody>
      </p:sp>
      <p:sp>
        <p:nvSpPr>
          <p:cNvPr id="8" name="linha_tempo"/>
          <p:cNvSpPr/>
          <p:nvPr/>
        </p:nvSpPr>
        <p:spPr>
          <a:xfrm>
            <a:off x="6812280" y="1600200"/>
            <a:ext cx="0" cy="3931920"/>
          </a:xfrm>
          <a:prstGeom prst="line">
            <a:avLst/>
          </a:prstGeom>
          <a:noFill/>
          <a:ln w="31750">
            <a:solidFill>
              <a:srgbClr val="CED4DA"/>
            </a:solidFill>
            <a:prstDash val="solid"/>
          </a:ln>
        </p:spPr>
      </p:sp>
      <p:sp>
        <p:nvSpPr>
          <p:cNvPr id="9" name="marco"/>
          <p:cNvSpPr/>
          <p:nvPr/>
        </p:nvSpPr>
        <p:spPr>
          <a:xfrm>
            <a:off x="6583680" y="141732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C757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69480" y="13716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6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1987</a:t>
            </a:r>
            <a:endParaRPr lang="pt-BR" sz="1500" dirty="0"/>
          </a:p>
          <a:p>
            <a:pPr indent="0" marL="0">
              <a:buNone/>
            </a:pPr>
            <a:r>
              <a:rPr lang="pt-BR" sz="13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Reynolds simula bandos com regras locais simples (boids)</a:t>
            </a:r>
            <a:endParaRPr lang="pt-BR" sz="1500" dirty="0"/>
          </a:p>
        </p:txBody>
      </p:sp>
      <p:sp>
        <p:nvSpPr>
          <p:cNvPr id="11" name="marco"/>
          <p:cNvSpPr/>
          <p:nvPr/>
        </p:nvSpPr>
        <p:spPr>
          <a:xfrm>
            <a:off x="6583680" y="2286000"/>
            <a:ext cx="457200" cy="457200"/>
          </a:xfrm>
          <a:prstGeom prst="ellipse">
            <a:avLst/>
          </a:prstGeom>
          <a:solidFill>
            <a:srgbClr val="E8590C"/>
          </a:solidFill>
          <a:ln w="25400">
            <a:solidFill>
              <a:srgbClr val="E8590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69480" y="22402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6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1995</a:t>
            </a:r>
            <a:endParaRPr lang="pt-BR" sz="1500" dirty="0"/>
          </a:p>
          <a:p>
            <a:pPr indent="0" marL="0">
              <a:buNone/>
            </a:pPr>
            <a:r>
              <a:rPr lang="pt-BR" sz="13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Kennedy e Eberhart apresentam o PSO</a:t>
            </a:r>
            <a:endParaRPr lang="pt-BR" sz="1500" dirty="0"/>
          </a:p>
        </p:txBody>
      </p:sp>
      <p:sp>
        <p:nvSpPr>
          <p:cNvPr id="13" name="marco"/>
          <p:cNvSpPr/>
          <p:nvPr/>
        </p:nvSpPr>
        <p:spPr>
          <a:xfrm>
            <a:off x="6583680" y="315468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C757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69480" y="31089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6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</a:t>
            </a:r>
            <a:endParaRPr lang="pt-BR" sz="1500" dirty="0"/>
          </a:p>
          <a:p>
            <a:pPr indent="0" marL="0">
              <a:buNone/>
            </a:pPr>
            <a:r>
              <a:rPr lang="pt-BR" sz="13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binária do PSO</a:t>
            </a:r>
            <a:endParaRPr lang="pt-BR" sz="1500" dirty="0"/>
          </a:p>
        </p:txBody>
      </p:sp>
      <p:sp>
        <p:nvSpPr>
          <p:cNvPr id="15" name="marco"/>
          <p:cNvSpPr/>
          <p:nvPr/>
        </p:nvSpPr>
        <p:spPr>
          <a:xfrm>
            <a:off x="6583680" y="402336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C757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69480" y="39776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6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1998</a:t>
            </a:r>
            <a:endParaRPr lang="pt-BR" sz="1500" dirty="0"/>
          </a:p>
          <a:p>
            <a:pPr indent="0" marL="0">
              <a:buNone/>
            </a:pPr>
            <a:r>
              <a:rPr lang="pt-BR" sz="13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 e Eberhart incluem o peso de inércia w</a:t>
            </a:r>
            <a:endParaRPr lang="pt-BR" sz="1500" dirty="0"/>
          </a:p>
        </p:txBody>
      </p:sp>
      <p:sp>
        <p:nvSpPr>
          <p:cNvPr id="17" name="marco"/>
          <p:cNvSpPr/>
          <p:nvPr/>
        </p:nvSpPr>
        <p:spPr>
          <a:xfrm>
            <a:off x="6583680" y="489204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C757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69480" y="484632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6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</a:t>
            </a:r>
            <a:endParaRPr lang="pt-BR" sz="1500" dirty="0"/>
          </a:p>
          <a:p>
            <a:pPr indent="0" marL="0">
              <a:buNone/>
            </a:pPr>
            <a:r>
              <a:rPr lang="pt-BR" sz="13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Clerc e Kennedy propõem o coeficiente de constrição</a:t>
            </a:r>
            <a:endParaRPr lang="pt-BR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57150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0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Kennedy era psicólogo social e Eberhart, engenheiro eletricista. O PSO nasceu tentando simular comportamento social e acabou virando otimizador.</a:t>
            </a:r>
            <a:endParaRPr lang="pt-BR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ideia: um bando procurando comida</a:t>
            </a:r>
            <a:endParaRPr lang="pt-BR" sz="3400" dirty="0"/>
          </a:p>
        </p:txBody>
      </p:sp>
      <p:sp>
        <p:nvSpPr>
          <p:cNvPr id="3" name="pagina"/>
          <p:cNvSpPr txBox="1"/>
          <p:nvPr/>
        </p:nvSpPr>
        <p:spPr>
          <a:xfrm>
            <a:off x="1110996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1000" dirty="0">
                <a:solidFill>
                  <a:srgbClr val="CED4DA"/>
                </a:solidFill>
              </a:rPr>
              <a:t>3</a:t>
            </a:r>
            <a:endParaRPr lang="pt-BR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um bando procurando comida num campo. Ninguém sabe onde ela está, mas cada pássaro lembra do melhor lugar que já visitou e enxerga qual colega está mais perto dela. Misturando memória própria e informação do grupo, o bando inteiro chega lá.</a:t>
            </a:r>
            <a:endParaRPr lang="pt-BR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pássaro</a:t>
            </a:r>
            <a:pPr indent="0" marL="0">
              <a:buNone/>
            </a:pPr>
            <a:r>
              <a:rPr lang="pt-BR" sz="15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partícula     </a:t>
            </a:r>
            <a:pPr indent="0" marL="0">
              <a:buNone/>
            </a:pPr>
            <a:r>
              <a:rPr lang="pt-BR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comida</a:t>
            </a:r>
            <a:pPr indent="0" marL="0">
              <a:buNone/>
            </a:pPr>
            <a:r>
              <a:rPr lang="pt-BR" sz="15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melhor solução     </a:t>
            </a:r>
            <a:pPr indent="0" marL="0">
              <a:buNone/>
            </a:pPr>
            <a:r>
              <a:rPr lang="pt-BR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faro</a:t>
            </a:r>
            <a:pPr indent="0" marL="0">
              <a:buNone/>
            </a:pPr>
            <a:r>
              <a:rPr lang="pt-BR" sz="15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função fitness</a:t>
            </a:r>
            <a:endParaRPr lang="pt-BR" sz="1500" dirty="0"/>
          </a:p>
        </p:txBody>
      </p:sp>
      <p:sp>
        <p:nvSpPr>
          <p:cNvPr id="6" name="card"/>
          <p:cNvSpPr/>
          <p:nvPr/>
        </p:nvSpPr>
        <p:spPr>
          <a:xfrm>
            <a:off x="548640" y="397764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0B0D10">
              <a:alpha val="70000"/>
            </a:srgbClr>
          </a:solidFill>
          <a:ln w="12700">
            <a:solidFill>
              <a:srgbClr val="5C63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41605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pt-BR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x</a:t>
            </a:r>
            <a:endParaRPr lang="pt-BR" sz="1500" dirty="0"/>
          </a:p>
          <a:p>
            <a:pPr indent="0" marL="0">
              <a:buNone/>
            </a:pPr>
            <a:r>
              <a:rPr lang="pt-BR" sz="140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solução candidata. Cada coordenada é uma variável do problema.</a:t>
            </a:r>
            <a:endParaRPr lang="pt-BR" sz="1500" dirty="0"/>
          </a:p>
        </p:txBody>
      </p:sp>
      <p:sp>
        <p:nvSpPr>
          <p:cNvPr id="8" name="card"/>
          <p:cNvSpPr/>
          <p:nvPr/>
        </p:nvSpPr>
        <p:spPr>
          <a:xfrm>
            <a:off x="3364992" y="397764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0B0D10">
              <a:alpha val="70000"/>
            </a:srgbClr>
          </a:solidFill>
          <a:ln w="12700">
            <a:solidFill>
              <a:srgbClr val="5C63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41605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pt-BR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v</a:t>
            </a:r>
            <a:endParaRPr lang="pt-BR" sz="1500" dirty="0"/>
          </a:p>
          <a:p>
            <a:pPr indent="0" marL="0">
              <a:buNone/>
            </a:pPr>
            <a:r>
              <a:rPr lang="pt-BR" sz="140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onde e quanto a partícula vai andar no próximo passo.</a:t>
            </a:r>
            <a:endParaRPr lang="pt-BR" sz="1500" dirty="0"/>
          </a:p>
        </p:txBody>
      </p:sp>
      <p:sp>
        <p:nvSpPr>
          <p:cNvPr id="10" name="card"/>
          <p:cNvSpPr/>
          <p:nvPr/>
        </p:nvSpPr>
        <p:spPr>
          <a:xfrm>
            <a:off x="6181344" y="397764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0B0D10">
              <a:alpha val="70000"/>
            </a:srgbClr>
          </a:solidFill>
          <a:ln w="12700">
            <a:solidFill>
              <a:srgbClr val="5C63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82512" y="41605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pt-BR" sz="1800" b="1" dirty="0">
                <a:solidFill>
                  <a:srgbClr val="91A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pbest</a:t>
            </a:r>
            <a:endParaRPr lang="pt-BR" sz="1500" dirty="0"/>
          </a:p>
          <a:p>
            <a:pPr indent="0" marL="0">
              <a:buNone/>
            </a:pPr>
            <a:r>
              <a:rPr lang="pt-BR" sz="140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posição que essa partícula já visitou. A memória dela.</a:t>
            </a:r>
            <a:endParaRPr lang="pt-BR" sz="1500" dirty="0"/>
          </a:p>
        </p:txBody>
      </p:sp>
      <p:sp>
        <p:nvSpPr>
          <p:cNvPr id="12" name="card"/>
          <p:cNvSpPr/>
          <p:nvPr/>
        </p:nvSpPr>
        <p:spPr>
          <a:xfrm>
            <a:off x="8997696" y="397764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0B0D10">
              <a:alpha val="70000"/>
            </a:srgbClr>
          </a:solidFill>
          <a:ln w="12700">
            <a:solidFill>
              <a:srgbClr val="5C636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98864" y="41605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pt-BR" sz="1800" b="1" dirty="0">
                <a:solidFill>
                  <a:srgbClr val="FF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gbest</a:t>
            </a:r>
            <a:endParaRPr lang="pt-BR" sz="1500" dirty="0"/>
          </a:p>
          <a:p>
            <a:pPr indent="0" marL="0">
              <a:buNone/>
            </a:pPr>
            <a:r>
              <a:rPr lang="pt-BR" sz="140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posição que o enxame inteiro já encontrou.</a:t>
            </a:r>
            <a:endParaRPr lang="pt-BR" sz="1500" dirty="0"/>
          </a:p>
        </p:txBody>
      </p:sp>
      <p:sp>
        <p:nvSpPr>
          <p:cNvPr id="14" name="credito_fundo"/>
          <p:cNvSpPr txBox="1"/>
          <p:nvPr/>
        </p:nvSpPr>
        <p:spPr>
          <a:xfrm>
            <a:off x="6309360" y="63825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pt-BR" sz="950" i="1" dirty="0">
                <a:solidFill>
                  <a:srgbClr val="CE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de fundo: revoada de estorninhos sobre Roma. Fonte: National Geographic.</a:t>
            </a:r>
            <a:endParaRPr lang="pt-BR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3400" b="1" dirty="0">
                <a:solidFill>
                  <a:srgbClr val="1C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Equações de atualização</a:t>
            </a:r>
            <a:endParaRPr lang="pt-BR" sz="3400" dirty="0"/>
          </a:p>
        </p:txBody>
      </p:sp>
      <p:sp>
        <p:nvSpPr>
          <p:cNvPr id="3" name="pagina"/>
          <p:cNvSpPr txBox="1"/>
          <p:nvPr/>
        </p:nvSpPr>
        <p:spPr>
          <a:xfrm>
            <a:off x="1110996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1000" dirty="0">
                <a:solidFill>
                  <a:srgbClr val="868E96"/>
                </a:solidFill>
              </a:rPr>
              <a:t>4</a:t>
            </a:r>
            <a:endParaRPr lang="pt-BR" sz="1000" dirty="0"/>
          </a:p>
        </p:txBody>
      </p:sp>
      <p:pic>
        <p:nvPicPr>
          <p:cNvPr id="4" name="eq_velocidade" descr="assets/../tikz/eq_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417320"/>
            <a:ext cx="9966960" cy="1204612"/>
          </a:xfrm>
          <a:prstGeom prst="rect">
            <a:avLst/>
          </a:prstGeom>
        </p:spPr>
      </p:pic>
      <p:pic>
        <p:nvPicPr>
          <p:cNvPr id="5" name="eq_posicao" descr="assets/../tikz/eq_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971800"/>
            <a:ext cx="4846320" cy="596030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548640" y="40233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" name="bloco"/>
          <p:cNvSpPr txBox="1"/>
          <p:nvPr/>
        </p:nvSpPr>
        <p:spPr>
          <a:xfrm>
            <a:off x="749808" y="41605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t-BR" sz="18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pt-BR" sz="1500" dirty="0"/>
          </a:p>
          <a:p>
            <a:pPr indent="0" marL="0">
              <a:buNone/>
            </a:pPr>
            <a:r>
              <a:rPr lang="pt-BR" sz="13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de inércia. Valores comuns entre 0,4 e 0,9.</a:t>
            </a:r>
            <a:endParaRPr lang="pt-BR" sz="1500" dirty="0"/>
          </a:p>
        </p:txBody>
      </p:sp>
      <p:sp>
        <p:nvSpPr>
          <p:cNvPr id="8" name="card"/>
          <p:cNvSpPr/>
          <p:nvPr/>
        </p:nvSpPr>
        <p:spPr>
          <a:xfrm>
            <a:off x="3364992" y="40233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9" name="bloco"/>
          <p:cNvSpPr txBox="1"/>
          <p:nvPr/>
        </p:nvSpPr>
        <p:spPr>
          <a:xfrm>
            <a:off x="3566160" y="41605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t-BR" sz="18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e c2</a:t>
            </a:r>
            <a:endParaRPr lang="pt-BR" sz="1500" dirty="0"/>
          </a:p>
          <a:p>
            <a:pPr indent="0" marL="0">
              <a:buNone/>
            </a:pPr>
            <a:r>
              <a:rPr lang="pt-BR" sz="13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de aceleração. Costumam ficar entre 1,5 e 2.</a:t>
            </a:r>
            <a:endParaRPr lang="pt-BR" sz="1500" dirty="0"/>
          </a:p>
        </p:txBody>
      </p:sp>
      <p:sp>
        <p:nvSpPr>
          <p:cNvPr id="10" name="card"/>
          <p:cNvSpPr/>
          <p:nvPr/>
        </p:nvSpPr>
        <p:spPr>
          <a:xfrm>
            <a:off x="6181344" y="40233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1" name="bloco"/>
          <p:cNvSpPr txBox="1"/>
          <p:nvPr/>
        </p:nvSpPr>
        <p:spPr>
          <a:xfrm>
            <a:off x="6382512" y="41605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t-BR" sz="18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e r2</a:t>
            </a:r>
            <a:endParaRPr lang="pt-BR" sz="1500" dirty="0"/>
          </a:p>
          <a:p>
            <a:pPr indent="0" marL="0">
              <a:buNone/>
            </a:pPr>
            <a:r>
              <a:rPr lang="pt-BR" sz="13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sorteados entre 0 e 1 a cada passo. Trazem o acaso.</a:t>
            </a:r>
            <a:endParaRPr lang="pt-BR" sz="1500" dirty="0"/>
          </a:p>
        </p:txBody>
      </p:sp>
      <p:sp>
        <p:nvSpPr>
          <p:cNvPr id="12" name="card"/>
          <p:cNvSpPr/>
          <p:nvPr/>
        </p:nvSpPr>
        <p:spPr>
          <a:xfrm>
            <a:off x="8997696" y="40233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3" name="bloco"/>
          <p:cNvSpPr txBox="1"/>
          <p:nvPr/>
        </p:nvSpPr>
        <p:spPr>
          <a:xfrm>
            <a:off x="9198864" y="41605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t-BR" sz="18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pᵢ e g</a:t>
            </a:r>
            <a:endParaRPr lang="pt-BR" sz="1500" dirty="0"/>
          </a:p>
          <a:p>
            <a:pPr indent="0" marL="0">
              <a:buNone/>
            </a:pPr>
            <a:r>
              <a:rPr lang="pt-BR" sz="13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pᵢ é o pbest da partícula i e g é o gbest do enxame.</a:t>
            </a:r>
            <a:endParaRPr lang="pt-BR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3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equação calcula a nova velocidade. A segunda só soma essa velocidade à posição. Forma padrão com peso de inércia, proposta por Shi e Eberhart (1998).</a:t>
            </a:r>
            <a:endParaRPr lang="pt-BR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3400" b="1" dirty="0">
                <a:solidFill>
                  <a:srgbClr val="1C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três forças que movem a partícula</a:t>
            </a:r>
            <a:endParaRPr lang="pt-BR" sz="3400" dirty="0"/>
          </a:p>
        </p:txBody>
      </p:sp>
      <p:sp>
        <p:nvSpPr>
          <p:cNvPr id="3" name="pagina"/>
          <p:cNvSpPr txBox="1"/>
          <p:nvPr/>
        </p:nvSpPr>
        <p:spPr>
          <a:xfrm>
            <a:off x="1110996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1000" dirty="0">
                <a:solidFill>
                  <a:srgbClr val="868E96"/>
                </a:solidFill>
              </a:rPr>
              <a:t>5</a:t>
            </a:r>
            <a:endParaRPr lang="pt-BR" sz="1000" dirty="0"/>
          </a:p>
        </p:txBody>
      </p:sp>
      <p:sp>
        <p:nvSpPr>
          <p:cNvPr id="4" name="card"/>
          <p:cNvSpPr/>
          <p:nvPr/>
        </p:nvSpPr>
        <p:spPr>
          <a:xfrm>
            <a:off x="566928" y="1344168"/>
            <a:ext cx="5907024" cy="3684830"/>
          </a:xfrm>
          <a:prstGeom prst="roundRect">
            <a:avLst>
              <a:gd name="adj" fmla="val 2978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pic>
        <p:nvPicPr>
          <p:cNvPr id="5" name="forcas_animado" descr="assets/forcas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5760720" cy="3538526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548640" y="51206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05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2 - Soma das três forças, animada. Fonte: autoria própria.</a:t>
            </a:r>
            <a:endParaRPr lang="pt-BR" sz="1050" dirty="0"/>
          </a:p>
        </p:txBody>
      </p:sp>
      <p:sp>
        <p:nvSpPr>
          <p:cNvPr id="7" name="icone_fundo"/>
          <p:cNvSpPr/>
          <p:nvPr/>
        </p:nvSpPr>
        <p:spPr>
          <a:xfrm>
            <a:off x="6858000" y="1463040"/>
            <a:ext cx="777240" cy="777240"/>
          </a:xfrm>
          <a:prstGeom prst="ellipse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pic>
        <p:nvPicPr>
          <p:cNvPr id="8" name="icone" descr="icons/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8993" y="1634033"/>
            <a:ext cx="435254" cy="435254"/>
          </a:xfrm>
          <a:prstGeom prst="rect">
            <a:avLst/>
          </a:prstGeom>
        </p:spPr>
      </p:pic>
      <p:sp>
        <p:nvSpPr>
          <p:cNvPr id="9" name="bloco"/>
          <p:cNvSpPr txBox="1"/>
          <p:nvPr/>
        </p:nvSpPr>
        <p:spPr>
          <a:xfrm>
            <a:off x="7863840" y="141732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t-BR" sz="18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Inércia</a:t>
            </a:r>
            <a:endParaRPr lang="pt-BR" sz="1500" dirty="0"/>
          </a:p>
          <a:p>
            <a:pPr indent="0" marL="0">
              <a:buNone/>
            </a:pPr>
            <a:r>
              <a:rPr lang="pt-BR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 indo para onde já estava indo. Evita mudanças bruscas e ajuda a explorar o espaço.</a:t>
            </a:r>
            <a:endParaRPr lang="pt-BR" sz="1500" dirty="0"/>
          </a:p>
        </p:txBody>
      </p:sp>
      <p:sp>
        <p:nvSpPr>
          <p:cNvPr id="10" name="icone_fundo"/>
          <p:cNvSpPr/>
          <p:nvPr/>
        </p:nvSpPr>
        <p:spPr>
          <a:xfrm>
            <a:off x="6858000" y="2788920"/>
            <a:ext cx="777240" cy="777240"/>
          </a:xfrm>
          <a:prstGeom prst="ellipse">
            <a:avLst/>
          </a:prstGeom>
          <a:solidFill>
            <a:srgbClr val="EDF2FF"/>
          </a:solidFill>
          <a:ln w="12700">
            <a:solidFill>
              <a:srgbClr val="EDF2FF"/>
            </a:solidFill>
            <a:prstDash val="solid"/>
          </a:ln>
        </p:spPr>
      </p:sp>
      <p:pic>
        <p:nvPicPr>
          <p:cNvPr id="11" name="icone" descr="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8993" y="2959913"/>
            <a:ext cx="435254" cy="435254"/>
          </a:xfrm>
          <a:prstGeom prst="rect">
            <a:avLst/>
          </a:prstGeom>
        </p:spPr>
      </p:pic>
      <p:sp>
        <p:nvSpPr>
          <p:cNvPr id="12" name="bloco"/>
          <p:cNvSpPr txBox="1"/>
          <p:nvPr/>
        </p:nvSpPr>
        <p:spPr>
          <a:xfrm>
            <a:off x="7863840" y="274320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t-BR" sz="18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Cognitiva</a:t>
            </a:r>
            <a:endParaRPr lang="pt-BR" sz="1500" dirty="0"/>
          </a:p>
          <a:p>
            <a:pPr indent="0" marL="0">
              <a:buNone/>
            </a:pPr>
            <a:r>
              <a:rPr lang="pt-BR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Puxa a partícula de volta para o melhor lugar que ela mesma já viu. É a memória individual.</a:t>
            </a:r>
            <a:endParaRPr lang="pt-BR" sz="1500" dirty="0"/>
          </a:p>
        </p:txBody>
      </p:sp>
      <p:sp>
        <p:nvSpPr>
          <p:cNvPr id="13" name="icone_fundo"/>
          <p:cNvSpPr/>
          <p:nvPr/>
        </p:nvSpPr>
        <p:spPr>
          <a:xfrm>
            <a:off x="6858000" y="4114800"/>
            <a:ext cx="777240" cy="777240"/>
          </a:xfrm>
          <a:prstGeom prst="ellipse">
            <a:avLst/>
          </a:prstGeom>
          <a:solidFill>
            <a:srgbClr val="FFF4E6"/>
          </a:solidFill>
          <a:ln w="12700">
            <a:solidFill>
              <a:srgbClr val="FFF4E6"/>
            </a:solidFill>
            <a:prstDash val="solid"/>
          </a:ln>
        </p:spPr>
      </p:sp>
      <p:pic>
        <p:nvPicPr>
          <p:cNvPr id="14" name="icone" descr="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8993" y="4285793"/>
            <a:ext cx="435254" cy="435254"/>
          </a:xfrm>
          <a:prstGeom prst="rect">
            <a:avLst/>
          </a:prstGeom>
        </p:spPr>
      </p:pic>
      <p:sp>
        <p:nvSpPr>
          <p:cNvPr id="15" name="bloco"/>
          <p:cNvSpPr txBox="1"/>
          <p:nvPr/>
        </p:nvSpPr>
        <p:spPr>
          <a:xfrm>
            <a:off x="7863840" y="406908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t-BR" sz="18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pt-BR" sz="1500" dirty="0"/>
          </a:p>
          <a:p>
            <a:pPr indent="0" marL="0">
              <a:buNone/>
            </a:pPr>
            <a:r>
              <a:rPr lang="pt-BR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Puxa a partícula para o melhor lugar que o grupo achou. É a troca de informação.</a:t>
            </a:r>
            <a:endParaRPr lang="pt-BR" sz="1500" dirty="0"/>
          </a:p>
        </p:txBody>
      </p:sp>
      <p:sp>
        <p:nvSpPr>
          <p:cNvPr id="16" name="card"/>
          <p:cNvSpPr/>
          <p:nvPr/>
        </p:nvSpPr>
        <p:spPr>
          <a:xfrm>
            <a:off x="6858000" y="5486400"/>
            <a:ext cx="4800600" cy="685800"/>
          </a:xfrm>
          <a:prstGeom prst="roundRect">
            <a:avLst>
              <a:gd name="adj" fmla="val 16000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7040880" y="5550408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2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r1 e r2 são sorteados, cada passo tem um pouco de acaso. É isso que impede o enxame de andar em fila.</a:t>
            </a:r>
            <a:endParaRPr lang="pt-BR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3400" b="1" dirty="0">
                <a:solidFill>
                  <a:srgbClr val="1C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Variantes do PSO</a:t>
            </a:r>
            <a:endParaRPr lang="pt-BR" sz="3400" dirty="0"/>
          </a:p>
        </p:txBody>
      </p:sp>
      <p:sp>
        <p:nvSpPr>
          <p:cNvPr id="3" name="pagina"/>
          <p:cNvSpPr txBox="1"/>
          <p:nvPr/>
        </p:nvSpPr>
        <p:spPr>
          <a:xfrm>
            <a:off x="1110996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1000" dirty="0">
                <a:solidFill>
                  <a:srgbClr val="868E96"/>
                </a:solidFill>
              </a:rPr>
              <a:t>6</a:t>
            </a:r>
            <a:endParaRPr lang="pt-BR" sz="10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" name="icone_fundo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rgbClr val="EDF2FF"/>
          </a:solidFill>
          <a:ln w="12700">
            <a:solidFill>
              <a:srgbClr val="EDF2FF"/>
            </a:solidFill>
            <a:prstDash val="solid"/>
          </a:ln>
        </p:spPr>
      </p:sp>
      <p:pic>
        <p:nvPicPr>
          <p:cNvPr id="6" name="icone" descr="icons/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1806854"/>
            <a:ext cx="409651" cy="4096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64592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7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Inércia decrescente</a:t>
            </a:r>
            <a:endParaRPr lang="pt-BR" sz="1500" dirty="0"/>
          </a:p>
          <a:p>
            <a:pPr indent="0" marL="0">
              <a:buNone/>
            </a:pPr>
            <a:r>
              <a:rPr lang="pt-BR" sz="115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 e Eberhart (1998)</a:t>
            </a:r>
            <a:endParaRPr lang="pt-BR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5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w começa alto, perto de 0,9, e cai até perto de 0,4. No começo o enxame explora, no fim ele refina.</a:t>
            </a:r>
            <a:endParaRPr lang="pt-BR" sz="1500" dirty="0"/>
          </a:p>
        </p:txBody>
      </p:sp>
      <p:sp>
        <p:nvSpPr>
          <p:cNvPr id="9" name="card"/>
          <p:cNvSpPr/>
          <p:nvPr/>
        </p:nvSpPr>
        <p:spPr>
          <a:xfrm>
            <a:off x="6217920" y="137160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icone_fundo"/>
          <p:cNvSpPr/>
          <p:nvPr/>
        </p:nvSpPr>
        <p:spPr>
          <a:xfrm>
            <a:off x="6492240" y="1645920"/>
            <a:ext cx="731520" cy="731520"/>
          </a:xfrm>
          <a:prstGeom prst="ellipse">
            <a:avLst/>
          </a:prstGeom>
          <a:solidFill>
            <a:srgbClr val="FFF4E6"/>
          </a:solidFill>
          <a:ln w="12700">
            <a:solidFill>
              <a:srgbClr val="FFF4E6"/>
            </a:solidFill>
            <a:prstDash val="solid"/>
          </a:ln>
        </p:spPr>
      </p:sp>
      <p:pic>
        <p:nvPicPr>
          <p:cNvPr id="11" name="icone" descr="icons/compr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174" y="1806854"/>
            <a:ext cx="409651" cy="4096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06640" y="164592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7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 de constrição</a:t>
            </a:r>
            <a:endParaRPr lang="pt-BR" sz="1500" dirty="0"/>
          </a:p>
          <a:p>
            <a:pPr indent="0" marL="0">
              <a:buNone/>
            </a:pPr>
            <a:r>
              <a:rPr lang="pt-BR" sz="115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Clerc e Kennedy (2002)</a:t>
            </a:r>
            <a:endParaRPr lang="pt-BR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51460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5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 a velocidade por χ ≈ 0,729. Garante que o enxame converge sem limitar a velocidade na mão.</a:t>
            </a:r>
            <a:endParaRPr lang="pt-BR" sz="1500" dirty="0"/>
          </a:p>
        </p:txBody>
      </p:sp>
      <p:sp>
        <p:nvSpPr>
          <p:cNvPr id="14" name="card"/>
          <p:cNvSpPr/>
          <p:nvPr/>
        </p:nvSpPr>
        <p:spPr>
          <a:xfrm>
            <a:off x="548640" y="379476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5" name="icone_fundo"/>
          <p:cNvSpPr/>
          <p:nvPr/>
        </p:nvSpPr>
        <p:spPr>
          <a:xfrm>
            <a:off x="822960" y="4069080"/>
            <a:ext cx="731520" cy="731520"/>
          </a:xfrm>
          <a:prstGeom prst="ellipse">
            <a:avLst/>
          </a:prstGeom>
          <a:solidFill>
            <a:srgbClr val="EBFBEE"/>
          </a:solidFill>
          <a:ln w="12700">
            <a:solidFill>
              <a:srgbClr val="EBFBEE"/>
            </a:solidFill>
            <a:prstDash val="solid"/>
          </a:ln>
        </p:spPr>
      </p:sp>
      <p:pic>
        <p:nvPicPr>
          <p:cNvPr id="16" name="icone" descr="icons/togg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4230014"/>
            <a:ext cx="409651" cy="40965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406908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7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 binário</a:t>
            </a:r>
            <a:endParaRPr lang="pt-BR" sz="1500" dirty="0"/>
          </a:p>
          <a:p>
            <a:pPr indent="0" marL="0">
              <a:buNone/>
            </a:pPr>
            <a:r>
              <a:rPr lang="pt-BR" sz="115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Kennedy e Eberhart (1997)</a:t>
            </a:r>
            <a:endParaRPr lang="pt-BR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493776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5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coordenada vira 0 ou 1. A velocidade passa por uma sigmoide e vira a probabilidade de o bit ser 1.</a:t>
            </a:r>
            <a:endParaRPr lang="pt-BR" sz="1500" dirty="0"/>
          </a:p>
        </p:txBody>
      </p:sp>
      <p:sp>
        <p:nvSpPr>
          <p:cNvPr id="19" name="card"/>
          <p:cNvSpPr/>
          <p:nvPr/>
        </p:nvSpPr>
        <p:spPr>
          <a:xfrm>
            <a:off x="6217920" y="379476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0" name="icone_fundo"/>
          <p:cNvSpPr/>
          <p:nvPr/>
        </p:nvSpPr>
        <p:spPr>
          <a:xfrm>
            <a:off x="6492240" y="4069080"/>
            <a:ext cx="731520" cy="73152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21" name="icone" descr="icons/rando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3174" y="4230014"/>
            <a:ext cx="409651" cy="40965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06640" y="406908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7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Chaves aleatórias (random keys)</a:t>
            </a:r>
            <a:endParaRPr lang="pt-BR" sz="1500" dirty="0"/>
          </a:p>
          <a:p>
            <a:pPr indent="0" marL="0">
              <a:buNone/>
            </a:pPr>
            <a:r>
              <a:rPr lang="pt-BR" sz="115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(1994)</a:t>
            </a:r>
            <a:endParaRPr lang="pt-BR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492240" y="493776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5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partícula continua contínua. Na hora de avaliar, os valores são ordenados e viram uma sequência. É o que usamos no vidro.</a:t>
            </a:r>
            <a:endParaRPr lang="pt-BR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3400" b="1" dirty="0">
                <a:solidFill>
                  <a:srgbClr val="1C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Parâmetros na prática</a:t>
            </a:r>
            <a:endParaRPr lang="pt-BR" sz="3400" dirty="0"/>
          </a:p>
        </p:txBody>
      </p:sp>
      <p:sp>
        <p:nvSpPr>
          <p:cNvPr id="3" name="pagina"/>
          <p:cNvSpPr txBox="1"/>
          <p:nvPr/>
        </p:nvSpPr>
        <p:spPr>
          <a:xfrm>
            <a:off x="1110996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1000" dirty="0">
                <a:solidFill>
                  <a:srgbClr val="868E96"/>
                </a:solidFill>
              </a:rPr>
              <a:t>7</a:t>
            </a:r>
            <a:endParaRPr lang="pt-BR" sz="1000" dirty="0"/>
          </a:p>
        </p:txBody>
      </p:sp>
      <p:sp>
        <p:nvSpPr>
          <p:cNvPr id="4" name="card"/>
          <p:cNvSpPr/>
          <p:nvPr/>
        </p:nvSpPr>
        <p:spPr>
          <a:xfrm>
            <a:off x="566928" y="1344168"/>
            <a:ext cx="7095744" cy="4224614"/>
          </a:xfrm>
          <a:prstGeom prst="roundRect">
            <a:avLst>
              <a:gd name="adj" fmla="val 2597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pic>
        <p:nvPicPr>
          <p:cNvPr id="5" name="parametros" descr="assets/parametr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6949440" cy="407831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548640" y="56235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05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3 - Analogia: a turma procurando o melhor sinal de Wi-Fi do campus. Fonte: autoria própria.</a:t>
            </a:r>
            <a:endParaRPr lang="pt-BR" sz="1050" dirty="0"/>
          </a:p>
        </p:txBody>
      </p:sp>
      <p:sp>
        <p:nvSpPr>
          <p:cNvPr id="7" name="bloco"/>
          <p:cNvSpPr txBox="1"/>
          <p:nvPr/>
        </p:nvSpPr>
        <p:spPr>
          <a:xfrm>
            <a:off x="8092440" y="13716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do enxame</a:t>
            </a:r>
            <a:endParaRPr lang="pt-BR" sz="1500" dirty="0"/>
          </a:p>
          <a:p>
            <a:pPr indent="0" marL="0">
              <a:buNone/>
            </a:pPr>
            <a:r>
              <a:rPr lang="pt-BR" sz="12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partículas procuram juntas. Entre 20 e 50 é comum.</a:t>
            </a:r>
            <a:endParaRPr lang="pt-BR" sz="1500" dirty="0"/>
          </a:p>
        </p:txBody>
      </p:sp>
      <p:sp>
        <p:nvSpPr>
          <p:cNvPr id="8" name="bloco"/>
          <p:cNvSpPr txBox="1"/>
          <p:nvPr/>
        </p:nvSpPr>
        <p:spPr>
          <a:xfrm>
            <a:off x="8092440" y="23317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(inércia)</a:t>
            </a:r>
            <a:endParaRPr lang="pt-BR" sz="1500" dirty="0"/>
          </a:p>
          <a:p>
            <a:pPr indent="0" marL="0">
              <a:buNone/>
            </a:pPr>
            <a:r>
              <a:rPr lang="pt-BR" sz="12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do passo anterior é mantido. Alto explora, baixo refina.</a:t>
            </a:r>
            <a:endParaRPr lang="pt-BR" sz="1500" dirty="0"/>
          </a:p>
        </p:txBody>
      </p:sp>
      <p:sp>
        <p:nvSpPr>
          <p:cNvPr id="9" name="bloco"/>
          <p:cNvSpPr txBox="1"/>
          <p:nvPr/>
        </p:nvSpPr>
        <p:spPr>
          <a:xfrm>
            <a:off x="8092440" y="329184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e c2</a:t>
            </a:r>
            <a:endParaRPr lang="pt-BR" sz="1500" dirty="0"/>
          </a:p>
          <a:p>
            <a:pPr indent="0" marL="0">
              <a:buNone/>
            </a:pPr>
            <a:r>
              <a:rPr lang="pt-BR" sz="12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da memória própria contra o peso do grupo. Equilíbrio evita teimosia e efeito manada.</a:t>
            </a:r>
            <a:endParaRPr lang="pt-BR" sz="1500" dirty="0"/>
          </a:p>
        </p:txBody>
      </p:sp>
      <p:sp>
        <p:nvSpPr>
          <p:cNvPr id="10" name="bloco"/>
          <p:cNvSpPr txBox="1"/>
          <p:nvPr/>
        </p:nvSpPr>
        <p:spPr>
          <a:xfrm>
            <a:off x="8092440" y="425196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Vmax</a:t>
            </a:r>
            <a:endParaRPr lang="pt-BR" sz="1500" dirty="0"/>
          </a:p>
          <a:p>
            <a:pPr indent="0" marL="0">
              <a:buNone/>
            </a:pPr>
            <a:r>
              <a:rPr lang="pt-BR" sz="12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máximo por iteração. Impede a partícula de sair voando do espaço de busca.</a:t>
            </a:r>
            <a:endParaRPr lang="pt-BR" sz="1500" dirty="0"/>
          </a:p>
        </p:txBody>
      </p:sp>
      <p:sp>
        <p:nvSpPr>
          <p:cNvPr id="11" name="bloco"/>
          <p:cNvSpPr txBox="1"/>
          <p:nvPr/>
        </p:nvSpPr>
        <p:spPr>
          <a:xfrm>
            <a:off x="8092440" y="521208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</a:t>
            </a:r>
            <a:endParaRPr lang="pt-BR" sz="1500" dirty="0"/>
          </a:p>
          <a:p>
            <a:pPr indent="0" marL="0">
              <a:buNone/>
            </a:pPr>
            <a:r>
              <a:rPr lang="pt-BR" sz="12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máximo de iterações ou quando o gbest para de melhorar.</a:t>
            </a:r>
            <a:endParaRPr lang="pt-BR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3400" b="1" dirty="0">
                <a:solidFill>
                  <a:srgbClr val="1C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algoritmo passo a passo</a:t>
            </a:r>
            <a:endParaRPr lang="pt-BR" sz="3400" dirty="0"/>
          </a:p>
        </p:txBody>
      </p:sp>
      <p:sp>
        <p:nvSpPr>
          <p:cNvPr id="3" name="pagina"/>
          <p:cNvSpPr txBox="1"/>
          <p:nvPr/>
        </p:nvSpPr>
        <p:spPr>
          <a:xfrm>
            <a:off x="1110996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1000" dirty="0">
                <a:solidFill>
                  <a:srgbClr val="868E96"/>
                </a:solidFill>
              </a:rPr>
              <a:t>8</a:t>
            </a:r>
            <a:endParaRPr lang="pt-BR" sz="1000" dirty="0"/>
          </a:p>
        </p:txBody>
      </p:sp>
      <p:pic>
        <p:nvPicPr>
          <p:cNvPr id="4" name="fluxograma" descr="assets/fluxo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280160"/>
            <a:ext cx="2514600" cy="4555435"/>
          </a:xfrm>
          <a:prstGeom prst="rect">
            <a:avLst/>
          </a:prstGeom>
        </p:spPr>
      </p:pic>
      <p:sp>
        <p:nvSpPr>
          <p:cNvPr id="5" name="legenda"/>
          <p:cNvSpPr txBox="1"/>
          <p:nvPr/>
        </p:nvSpPr>
        <p:spPr>
          <a:xfrm>
            <a:off x="274320" y="5925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05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4 - Fluxograma do PSO. Fonte: autoria própria.</a:t>
            </a:r>
            <a:endParaRPr lang="pt-BR" sz="1050" dirty="0"/>
          </a:p>
        </p:txBody>
      </p:sp>
      <p:sp>
        <p:nvSpPr>
          <p:cNvPr id="6" name="card"/>
          <p:cNvSpPr/>
          <p:nvPr/>
        </p:nvSpPr>
        <p:spPr>
          <a:xfrm>
            <a:off x="4270248" y="1344168"/>
            <a:ext cx="4901184" cy="4108704"/>
          </a:xfrm>
          <a:prstGeom prst="roundRect">
            <a:avLst>
              <a:gd name="adj" fmla="val 2671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pic>
        <p:nvPicPr>
          <p:cNvPr id="7" name="enxame_animado" descr="assets/enxame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417320"/>
            <a:ext cx="4754880" cy="3962400"/>
          </a:xfrm>
          <a:prstGeom prst="rect">
            <a:avLst/>
          </a:prstGeom>
        </p:spPr>
      </p:pic>
      <p:sp>
        <p:nvSpPr>
          <p:cNvPr id="8" name="legenda"/>
          <p:cNvSpPr txBox="1"/>
          <p:nvPr/>
        </p:nvSpPr>
        <p:spPr>
          <a:xfrm>
            <a:off x="4114800" y="55321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05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5 - Enxame de 24 partículas numa função com vários vales. Fonte: autoria própria.</a:t>
            </a:r>
            <a:endParaRPr lang="pt-BR" sz="1050" dirty="0"/>
          </a:p>
        </p:txBody>
      </p:sp>
      <p:sp>
        <p:nvSpPr>
          <p:cNvPr id="9" name="bloco"/>
          <p:cNvSpPr txBox="1"/>
          <p:nvPr/>
        </p:nvSpPr>
        <p:spPr>
          <a:xfrm>
            <a:off x="9464040" y="14630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Começo</a:t>
            </a:r>
            <a:endParaRPr lang="pt-BR" sz="1500" dirty="0"/>
          </a:p>
          <a:p>
            <a:pPr indent="0" marL="0">
              <a:buNone/>
            </a:pPr>
            <a:r>
              <a:rPr lang="pt-BR" sz="13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Partículas espalhadas ao acaso. Cada uma avalia onde está.</a:t>
            </a:r>
            <a:endParaRPr lang="pt-BR" sz="1500" dirty="0"/>
          </a:p>
        </p:txBody>
      </p:sp>
      <p:sp>
        <p:nvSpPr>
          <p:cNvPr id="10" name="bloco"/>
          <p:cNvSpPr txBox="1"/>
          <p:nvPr/>
        </p:nvSpPr>
        <p:spPr>
          <a:xfrm>
            <a:off x="9464040" y="28346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</a:t>
            </a:r>
            <a:endParaRPr lang="pt-BR" sz="1500" dirty="0"/>
          </a:p>
          <a:p>
            <a:pPr indent="0" marL="0">
              <a:buNone/>
            </a:pPr>
            <a:r>
              <a:rPr lang="pt-BR" sz="13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Algumas caem em vales locais, mas o gbest puxa o grupo para o vale mais fundo.</a:t>
            </a:r>
            <a:endParaRPr lang="pt-BR" sz="1500" dirty="0"/>
          </a:p>
        </p:txBody>
      </p:sp>
      <p:sp>
        <p:nvSpPr>
          <p:cNvPr id="11" name="bloco"/>
          <p:cNvSpPr txBox="1"/>
          <p:nvPr/>
        </p:nvSpPr>
        <p:spPr>
          <a:xfrm>
            <a:off x="9464040" y="42062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</a:t>
            </a:r>
            <a:endParaRPr lang="pt-BR" sz="1500" dirty="0"/>
          </a:p>
          <a:p>
            <a:pPr indent="0" marL="0">
              <a:buNone/>
            </a:pPr>
            <a:r>
              <a:rPr lang="pt-BR" sz="13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enxame se junta em volta do melhor ponto e para de melhorar.</a:t>
            </a:r>
            <a:endParaRPr lang="pt-BR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3400" b="1" dirty="0">
                <a:solidFill>
                  <a:srgbClr val="1C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Topologias: quem conversa com quem</a:t>
            </a:r>
            <a:endParaRPr lang="pt-BR" sz="3400" dirty="0"/>
          </a:p>
        </p:txBody>
      </p:sp>
      <p:sp>
        <p:nvSpPr>
          <p:cNvPr id="3" name="pagina"/>
          <p:cNvSpPr txBox="1"/>
          <p:nvPr/>
        </p:nvSpPr>
        <p:spPr>
          <a:xfrm>
            <a:off x="1110996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1000" dirty="0">
                <a:solidFill>
                  <a:srgbClr val="868E96"/>
                </a:solidFill>
              </a:rPr>
              <a:t>9</a:t>
            </a:r>
            <a:endParaRPr lang="pt-BR" sz="1000" dirty="0"/>
          </a:p>
        </p:txBody>
      </p:sp>
      <p:pic>
        <p:nvPicPr>
          <p:cNvPr id="4" name="topologias" descr="assets/topologi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589520" cy="4334392"/>
          </a:xfrm>
          <a:prstGeom prst="rect">
            <a:avLst/>
          </a:prstGeom>
        </p:spPr>
      </p:pic>
      <p:sp>
        <p:nvSpPr>
          <p:cNvPr id="5" name="legenda"/>
          <p:cNvSpPr txBox="1"/>
          <p:nvPr/>
        </p:nvSpPr>
        <p:spPr>
          <a:xfrm>
            <a:off x="548640" y="58521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05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6 - Topologias global e em anel. Fonte: autoria própria.</a:t>
            </a:r>
            <a:endParaRPr lang="pt-BR" sz="1050" dirty="0"/>
          </a:p>
        </p:txBody>
      </p:sp>
      <p:sp>
        <p:nvSpPr>
          <p:cNvPr id="6" name="card"/>
          <p:cNvSpPr/>
          <p:nvPr/>
        </p:nvSpPr>
        <p:spPr>
          <a:xfrm>
            <a:off x="8503920" y="1417320"/>
            <a:ext cx="3154680" cy="1417320"/>
          </a:xfrm>
          <a:prstGeom prst="roundRect">
            <a:avLst>
              <a:gd name="adj" fmla="val 7742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" name="bloco"/>
          <p:cNvSpPr txBox="1"/>
          <p:nvPr/>
        </p:nvSpPr>
        <p:spPr>
          <a:xfrm>
            <a:off x="8686800" y="1536192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gbest</a:t>
            </a:r>
            <a:endParaRPr lang="pt-BR" sz="1500" dirty="0"/>
          </a:p>
          <a:p>
            <a:pPr indent="0" marL="0">
              <a:buNone/>
            </a:pPr>
            <a:r>
              <a:rPr lang="pt-BR" sz="13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melhor do enxame inteiro guia todo mundo. Rápido, mas arrisca parar num ótimo local.</a:t>
            </a:r>
            <a:endParaRPr lang="pt-BR" sz="1500" dirty="0"/>
          </a:p>
        </p:txBody>
      </p:sp>
      <p:sp>
        <p:nvSpPr>
          <p:cNvPr id="8" name="card"/>
          <p:cNvSpPr/>
          <p:nvPr/>
        </p:nvSpPr>
        <p:spPr>
          <a:xfrm>
            <a:off x="8503920" y="3017520"/>
            <a:ext cx="3154680" cy="1417320"/>
          </a:xfrm>
          <a:prstGeom prst="roundRect">
            <a:avLst>
              <a:gd name="adj" fmla="val 7742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9" name="bloco"/>
          <p:cNvSpPr txBox="1"/>
          <p:nvPr/>
        </p:nvSpPr>
        <p:spPr>
          <a:xfrm>
            <a:off x="8686800" y="3136392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lbest</a:t>
            </a:r>
            <a:endParaRPr lang="pt-BR" sz="1500" dirty="0"/>
          </a:p>
          <a:p>
            <a:pPr indent="0" marL="0">
              <a:buNone/>
            </a:pPr>
            <a:r>
              <a:rPr lang="pt-BR" sz="13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partícula só enxerga as vizinhas. A informação se espalha devagar e o enxame explora mais.</a:t>
            </a:r>
            <a:endParaRPr lang="pt-BR" sz="1500" dirty="0"/>
          </a:p>
        </p:txBody>
      </p:sp>
      <p:sp>
        <p:nvSpPr>
          <p:cNvPr id="10" name="card"/>
          <p:cNvSpPr/>
          <p:nvPr/>
        </p:nvSpPr>
        <p:spPr>
          <a:xfrm>
            <a:off x="8503920" y="4617720"/>
            <a:ext cx="3154680" cy="1417320"/>
          </a:xfrm>
          <a:prstGeom prst="roundRect">
            <a:avLst>
              <a:gd name="adj" fmla="val 7742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1" name="bloco"/>
          <p:cNvSpPr txBox="1"/>
          <p:nvPr/>
        </p:nvSpPr>
        <p:spPr>
          <a:xfrm>
            <a:off x="8686800" y="4736592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</a:t>
            </a:r>
            <a:endParaRPr lang="pt-BR" sz="1500" dirty="0"/>
          </a:p>
          <a:p>
            <a:pPr indent="0" marL="0">
              <a:buNone/>
            </a:pPr>
            <a:r>
              <a:rPr lang="pt-BR" sz="13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de Von Neumann, aleatória e dinâmica, segundo Zhang, Wang e Ji (2015).</a:t>
            </a:r>
            <a:endParaRPr lang="pt-BR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3400" b="1" dirty="0">
                <a:solidFill>
                  <a:srgbClr val="1C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numérico: uma iteração à mão</a:t>
            </a:r>
            <a:endParaRPr lang="pt-BR" sz="3400" dirty="0"/>
          </a:p>
        </p:txBody>
      </p:sp>
      <p:sp>
        <p:nvSpPr>
          <p:cNvPr id="3" name="pagina"/>
          <p:cNvSpPr txBox="1"/>
          <p:nvPr/>
        </p:nvSpPr>
        <p:spPr>
          <a:xfrm>
            <a:off x="1110996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1000" dirty="0">
                <a:solidFill>
                  <a:srgbClr val="868E96"/>
                </a:solidFill>
              </a:rPr>
              <a:t>10</a:t>
            </a:r>
            <a:endParaRPr lang="pt-BR" sz="10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3108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pt-BR" sz="1700" b="1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pt-BR" sz="1500" dirty="0"/>
          </a:p>
          <a:p>
            <a:pPr indent="0" marL="0">
              <a:spcAft>
                <a:spcPts val="800"/>
              </a:spcAft>
              <a:buNone/>
            </a:pPr>
            <a:r>
              <a:rPr lang="pt-BR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Minimizar f(x) = x²</a:t>
            </a:r>
            <a:endParaRPr lang="pt-BR" sz="1500" dirty="0"/>
          </a:p>
          <a:p>
            <a:pPr indent="0" marL="0">
              <a:buNone/>
            </a:pPr>
            <a:r>
              <a:rPr lang="pt-BR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0,7</a:t>
            </a:r>
            <a:endParaRPr lang="pt-BR" sz="1500" dirty="0"/>
          </a:p>
          <a:p>
            <a:pPr indent="0" marL="0">
              <a:buNone/>
            </a:pPr>
            <a:r>
              <a:rPr lang="pt-BR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= c2 = 1,5</a:t>
            </a:r>
            <a:endParaRPr lang="pt-BR" sz="1500" dirty="0"/>
          </a:p>
          <a:p>
            <a:pPr indent="0" marL="0">
              <a:spcAft>
                <a:spcPts val="800"/>
              </a:spcAft>
              <a:buNone/>
            </a:pPr>
            <a:r>
              <a:rPr lang="pt-BR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= 0,5 e r2 = 0,8</a:t>
            </a:r>
            <a:endParaRPr lang="pt-BR" sz="1500" dirty="0"/>
          </a:p>
          <a:p>
            <a:pPr indent="0" marL="0">
              <a:buNone/>
            </a:pPr>
            <a:r>
              <a:rPr lang="pt-BR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x(t) = 4 e v(t) = 1</a:t>
            </a:r>
            <a:endParaRPr lang="pt-BR" sz="1500" dirty="0"/>
          </a:p>
          <a:p>
            <a:pPr indent="0" marL="0">
              <a:buNone/>
            </a:pPr>
            <a:r>
              <a:rPr lang="pt-BR" sz="140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pbest = 3, com f = 9</a:t>
            </a:r>
            <a:endParaRPr lang="pt-BR" sz="1500" dirty="0"/>
          </a:p>
          <a:p>
            <a:pPr indent="0" marL="0">
              <a:buNone/>
            </a:pPr>
            <a:r>
              <a:rPr lang="pt-BR" sz="14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gbest = 1, com f = 1</a:t>
            </a:r>
            <a:endParaRPr lang="pt-BR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371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5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Inércia</a:t>
            </a:r>
            <a:endParaRPr lang="pt-BR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371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 × 1</a:t>
            </a:r>
            <a:endParaRPr lang="pt-BR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987552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16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0,70</a:t>
            </a:r>
            <a:endParaRPr lang="pt-BR" sz="1600" dirty="0"/>
          </a:p>
        </p:txBody>
      </p:sp>
      <p:sp>
        <p:nvSpPr>
          <p:cNvPr id="9" name="divisor"/>
          <p:cNvSpPr/>
          <p:nvPr/>
        </p:nvSpPr>
        <p:spPr>
          <a:xfrm>
            <a:off x="4480560" y="1856232"/>
            <a:ext cx="713232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0560" y="188366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5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Cognitiva</a:t>
            </a:r>
            <a:endParaRPr lang="pt-BR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18836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 × 0,5 × (3 − 4)</a:t>
            </a:r>
            <a:endParaRPr lang="pt-BR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9875520" y="18836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16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−0,75</a:t>
            </a:r>
            <a:endParaRPr lang="pt-BR" sz="1600" dirty="0"/>
          </a:p>
        </p:txBody>
      </p:sp>
      <p:sp>
        <p:nvSpPr>
          <p:cNvPr id="13" name="divisor"/>
          <p:cNvSpPr/>
          <p:nvPr/>
        </p:nvSpPr>
        <p:spPr>
          <a:xfrm>
            <a:off x="4480560" y="2368296"/>
            <a:ext cx="713232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80560" y="23957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pt-BR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3957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 × 0,8 × (1 − 4)</a:t>
            </a:r>
            <a:endParaRPr lang="pt-BR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9875520" y="23957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16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−3,60</a:t>
            </a:r>
            <a:endParaRPr lang="pt-BR" sz="1600" dirty="0"/>
          </a:p>
        </p:txBody>
      </p:sp>
      <p:sp>
        <p:nvSpPr>
          <p:cNvPr id="17" name="divisor"/>
          <p:cNvSpPr/>
          <p:nvPr/>
        </p:nvSpPr>
        <p:spPr>
          <a:xfrm>
            <a:off x="4480560" y="2880360"/>
            <a:ext cx="713232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80560" y="29077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5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velocidade</a:t>
            </a:r>
            <a:endParaRPr lang="pt-BR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9077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0,70 − 0,75 − 3,60</a:t>
            </a:r>
            <a:endParaRPr lang="pt-BR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9875520" y="29077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16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−3,65</a:t>
            </a:r>
            <a:endParaRPr lang="pt-BR" sz="1600" dirty="0"/>
          </a:p>
        </p:txBody>
      </p:sp>
      <p:sp>
        <p:nvSpPr>
          <p:cNvPr id="21" name="divisor"/>
          <p:cNvSpPr/>
          <p:nvPr/>
        </p:nvSpPr>
        <p:spPr>
          <a:xfrm>
            <a:off x="4480560" y="3392424"/>
            <a:ext cx="713232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80560" y="34198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5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posição</a:t>
            </a:r>
            <a:endParaRPr lang="pt-BR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34198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+ (−3,65)</a:t>
            </a:r>
            <a:endParaRPr lang="pt-BR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9875520" y="34198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16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0,35</a:t>
            </a:r>
            <a:endParaRPr lang="pt-BR" sz="1600" dirty="0"/>
          </a:p>
        </p:txBody>
      </p:sp>
      <p:pic>
        <p:nvPicPr>
          <p:cNvPr id="25" name="reta_numerica" descr="assets/numeri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4389120"/>
            <a:ext cx="5394960" cy="1590027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4480560" y="400507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300" i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f(0,35) = 0,1225. Melhor que o pbest e o gbest, então os dois passam a ser 0,35.</a:t>
            </a:r>
            <a:endParaRPr lang="pt-BR" sz="1300" dirty="0"/>
          </a:p>
        </p:txBody>
      </p:sp>
      <p:sp>
        <p:nvSpPr>
          <p:cNvPr id="27" name="legenda"/>
          <p:cNvSpPr txBox="1"/>
          <p:nvPr/>
        </p:nvSpPr>
        <p:spPr>
          <a:xfrm>
            <a:off x="4480560" y="60350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05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7 - Movimento da partícula na reta. Fonte: autoria própria.</a:t>
            </a:r>
            <a:endParaRPr lang="pt-BR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PSO é aplicado</a:t>
            </a:r>
            <a:endParaRPr lang="pt-BR" sz="3400" dirty="0"/>
          </a:p>
        </p:txBody>
      </p:sp>
      <p:sp>
        <p:nvSpPr>
          <p:cNvPr id="3" name="pagina"/>
          <p:cNvSpPr txBox="1"/>
          <p:nvPr/>
        </p:nvSpPr>
        <p:spPr>
          <a:xfrm>
            <a:off x="1110996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1000" dirty="0">
                <a:solidFill>
                  <a:srgbClr val="CED4DA"/>
                </a:solidFill>
              </a:rPr>
              <a:t>11</a:t>
            </a:r>
            <a:endParaRPr lang="pt-BR" sz="10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0B0D10">
              <a:alpha val="70000"/>
            </a:srgbClr>
          </a:solidFill>
          <a:ln w="12700">
            <a:solidFill>
              <a:srgbClr val="5C636A"/>
            </a:solidFill>
            <a:prstDash val="solid"/>
          </a:ln>
        </p:spPr>
      </p:sp>
      <p:sp>
        <p:nvSpPr>
          <p:cNvPr id="5" name="icone_fundo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cone" descr="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167335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5544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elétrica</a:t>
            </a:r>
            <a:endParaRPr lang="pt-BR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2402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5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Despacho econômico, fluxo de potência, previsão de carga</a:t>
            </a:r>
            <a:endParaRPr lang="pt-BR" sz="1250" dirty="0"/>
          </a:p>
        </p:txBody>
      </p:sp>
      <p:sp>
        <p:nvSpPr>
          <p:cNvPr id="9" name="card"/>
          <p:cNvSpPr/>
          <p:nvPr/>
        </p:nvSpPr>
        <p:spPr>
          <a:xfrm>
            <a:off x="3364992" y="137160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0B0D10">
              <a:alpha val="70000"/>
            </a:srgbClr>
          </a:solidFill>
          <a:ln w="12700">
            <a:solidFill>
              <a:srgbClr val="5C636A"/>
            </a:solidFill>
            <a:prstDash val="solid"/>
          </a:ln>
        </p:spPr>
      </p:sp>
      <p:sp>
        <p:nvSpPr>
          <p:cNvPr id="10" name="icone_fundo"/>
          <p:cNvSpPr/>
          <p:nvPr/>
        </p:nvSpPr>
        <p:spPr>
          <a:xfrm>
            <a:off x="3547872" y="15544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cone" descr="icons/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4" y="167335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33672" y="15544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e automação</a:t>
            </a:r>
            <a:endParaRPr lang="pt-BR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547872" y="22402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5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Sintonia de controladores PID, controle de robôs</a:t>
            </a:r>
            <a:endParaRPr lang="pt-BR" sz="1250" dirty="0"/>
          </a:p>
        </p:txBody>
      </p:sp>
      <p:sp>
        <p:nvSpPr>
          <p:cNvPr id="14" name="card"/>
          <p:cNvSpPr/>
          <p:nvPr/>
        </p:nvSpPr>
        <p:spPr>
          <a:xfrm>
            <a:off x="6181344" y="137160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0B0D10">
              <a:alpha val="70000"/>
            </a:srgbClr>
          </a:solidFill>
          <a:ln w="12700">
            <a:solidFill>
              <a:srgbClr val="5C636A"/>
            </a:solidFill>
            <a:prstDash val="solid"/>
          </a:ln>
        </p:spPr>
      </p:sp>
      <p:sp>
        <p:nvSpPr>
          <p:cNvPr id="15" name="icone_fundo"/>
          <p:cNvSpPr/>
          <p:nvPr/>
        </p:nvSpPr>
        <p:spPr>
          <a:xfrm>
            <a:off x="6364224" y="15544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cone" descr="icons/wif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167335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050024" y="15544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Comunicações</a:t>
            </a:r>
            <a:endParaRPr lang="pt-BR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364224" y="22402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5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antenas, redes de sensores sem fio</a:t>
            </a:r>
            <a:endParaRPr lang="pt-BR" sz="1250" dirty="0"/>
          </a:p>
        </p:txBody>
      </p:sp>
      <p:sp>
        <p:nvSpPr>
          <p:cNvPr id="19" name="card"/>
          <p:cNvSpPr/>
          <p:nvPr/>
        </p:nvSpPr>
        <p:spPr>
          <a:xfrm>
            <a:off x="8997696" y="137160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31750">
            <a:solidFill>
              <a:srgbClr val="E8590C"/>
            </a:solidFill>
            <a:prstDash val="solid"/>
          </a:ln>
        </p:spPr>
      </p:sp>
      <p:sp>
        <p:nvSpPr>
          <p:cNvPr id="20" name="icone_fundo"/>
          <p:cNvSpPr/>
          <p:nvPr/>
        </p:nvSpPr>
        <p:spPr>
          <a:xfrm>
            <a:off x="9180576" y="15544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21" name="icone" descr="icons/glas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9448" y="167335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866376" y="15544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operacional</a:t>
            </a:r>
            <a:endParaRPr lang="pt-BR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9180576" y="22402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Escalonamento, roteamento de veículos, corte de materiais</a:t>
            </a:r>
            <a:endParaRPr lang="pt-BR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9180576" y="3035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50" b="1" u="sng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Ir para a aplicaçã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aplicação  &gt;</a:t>
            </a:r>
            <a:endParaRPr lang="pt-BR" sz="1250" dirty="0"/>
          </a:p>
        </p:txBody>
      </p:sp>
      <p:sp>
        <p:nvSpPr>
          <p:cNvPr id="25" name="card"/>
          <p:cNvSpPr/>
          <p:nvPr/>
        </p:nvSpPr>
        <p:spPr>
          <a:xfrm>
            <a:off x="548640" y="370332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31750">
            <a:solidFill>
              <a:srgbClr val="E8590C"/>
            </a:solidFill>
            <a:prstDash val="solid"/>
          </a:ln>
        </p:spPr>
      </p:sp>
      <p:sp>
        <p:nvSpPr>
          <p:cNvPr id="26" name="icone_fundo"/>
          <p:cNvSpPr/>
          <p:nvPr/>
        </p:nvSpPr>
        <p:spPr>
          <a:xfrm>
            <a:off x="731520" y="38862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27" name="icone" descr="icons/robo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" y="4005072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417320" y="38862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Robótica e drones</a:t>
            </a:r>
            <a:endParaRPr lang="pt-BR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731520" y="4572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de rotas e cobertura de áreas</a:t>
            </a:r>
            <a:endParaRPr lang="pt-BR" sz="1250" dirty="0"/>
          </a:p>
        </p:txBody>
      </p:sp>
      <p:sp>
        <p:nvSpPr>
          <p:cNvPr id="30" name="Text 23"/>
          <p:cNvSpPr txBox="1"/>
          <p:nvPr/>
        </p:nvSpPr>
        <p:spPr>
          <a:xfrm>
            <a:off x="731520" y="5367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50" b="1" u="sng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Ir para a aplicaçã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aplicação  &gt;</a:t>
            </a:r>
            <a:endParaRPr lang="pt-BR" sz="1250" dirty="0"/>
          </a:p>
        </p:txBody>
      </p:sp>
      <p:sp>
        <p:nvSpPr>
          <p:cNvPr id="31" name="card"/>
          <p:cNvSpPr/>
          <p:nvPr/>
        </p:nvSpPr>
        <p:spPr>
          <a:xfrm>
            <a:off x="3364992" y="370332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31750">
            <a:solidFill>
              <a:srgbClr val="E8590C"/>
            </a:solidFill>
            <a:prstDash val="solid"/>
          </a:ln>
        </p:spPr>
      </p:sp>
      <p:sp>
        <p:nvSpPr>
          <p:cNvPr id="32" name="icone_fundo"/>
          <p:cNvSpPr/>
          <p:nvPr/>
        </p:nvSpPr>
        <p:spPr>
          <a:xfrm>
            <a:off x="3547872" y="38862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33" name="icone" descr="icons/brainm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66744" y="4005072"/>
            <a:ext cx="310896" cy="310896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4233672" y="38862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de máquina</a:t>
            </a:r>
            <a:endParaRPr lang="pt-BR" sz="1400" dirty="0"/>
          </a:p>
        </p:txBody>
      </p:sp>
      <p:sp>
        <p:nvSpPr>
          <p:cNvPr id="35" name="Text 27"/>
          <p:cNvSpPr txBox="1"/>
          <p:nvPr/>
        </p:nvSpPr>
        <p:spPr>
          <a:xfrm>
            <a:off x="3547872" y="4572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Hiperparâmetros, seleção de atributos</a:t>
            </a:r>
            <a:endParaRPr lang="pt-BR" sz="1250" dirty="0"/>
          </a:p>
        </p:txBody>
      </p:sp>
      <p:sp>
        <p:nvSpPr>
          <p:cNvPr id="36" name="Text 28"/>
          <p:cNvSpPr txBox="1"/>
          <p:nvPr/>
        </p:nvSpPr>
        <p:spPr>
          <a:xfrm>
            <a:off x="3547872" y="5367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50" b="1" u="sng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Ir para a aplicaçã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aplicação  &gt;</a:t>
            </a:r>
            <a:endParaRPr lang="pt-BR" sz="1250" dirty="0"/>
          </a:p>
        </p:txBody>
      </p:sp>
      <p:sp>
        <p:nvSpPr>
          <p:cNvPr id="37" name="card"/>
          <p:cNvSpPr/>
          <p:nvPr/>
        </p:nvSpPr>
        <p:spPr>
          <a:xfrm>
            <a:off x="6181344" y="370332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0B0D10">
              <a:alpha val="70000"/>
            </a:srgbClr>
          </a:solidFill>
          <a:ln w="12700">
            <a:solidFill>
              <a:srgbClr val="5C636A"/>
            </a:solidFill>
            <a:prstDash val="solid"/>
          </a:ln>
        </p:spPr>
      </p:sp>
      <p:sp>
        <p:nvSpPr>
          <p:cNvPr id="38" name="icone_fundo"/>
          <p:cNvSpPr/>
          <p:nvPr/>
        </p:nvSpPr>
        <p:spPr>
          <a:xfrm>
            <a:off x="6364224" y="38862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9" name="icone" descr="icons/puzzl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83096" y="4005072"/>
            <a:ext cx="310896" cy="310896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7050024" y="38862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mecânica e civil</a:t>
            </a:r>
            <a:endParaRPr lang="pt-BR" sz="1400" dirty="0"/>
          </a:p>
        </p:txBody>
      </p:sp>
      <p:sp>
        <p:nvSpPr>
          <p:cNvPr id="41" name="Text 32"/>
          <p:cNvSpPr txBox="1"/>
          <p:nvPr/>
        </p:nvSpPr>
        <p:spPr>
          <a:xfrm>
            <a:off x="6364224" y="4572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5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estruturas, cronograma de obras</a:t>
            </a:r>
            <a:endParaRPr lang="pt-BR" sz="1250" dirty="0"/>
          </a:p>
        </p:txBody>
      </p:sp>
      <p:sp>
        <p:nvSpPr>
          <p:cNvPr id="42" name="card"/>
          <p:cNvSpPr/>
          <p:nvPr/>
        </p:nvSpPr>
        <p:spPr>
          <a:xfrm>
            <a:off x="8997696" y="370332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0B0D10">
              <a:alpha val="70000"/>
            </a:srgbClr>
          </a:solidFill>
          <a:ln w="12700">
            <a:solidFill>
              <a:srgbClr val="5C636A"/>
            </a:solidFill>
            <a:prstDash val="solid"/>
          </a:ln>
        </p:spPr>
      </p:sp>
      <p:sp>
        <p:nvSpPr>
          <p:cNvPr id="43" name="icone_fundo"/>
          <p:cNvSpPr/>
          <p:nvPr/>
        </p:nvSpPr>
        <p:spPr>
          <a:xfrm>
            <a:off x="9180576" y="38862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4" name="icone" descr="icons/hear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99448" y="4005072"/>
            <a:ext cx="310896" cy="310896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9866376" y="38862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 e química</a:t>
            </a:r>
            <a:endParaRPr lang="pt-BR" sz="1400" dirty="0"/>
          </a:p>
        </p:txBody>
      </p:sp>
      <p:sp>
        <p:nvSpPr>
          <p:cNvPr id="46" name="Text 36"/>
          <p:cNvSpPr txBox="1"/>
          <p:nvPr/>
        </p:nvSpPr>
        <p:spPr>
          <a:xfrm>
            <a:off x="9180576" y="4572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5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médicos, equilíbrio químico</a:t>
            </a:r>
            <a:endParaRPr lang="pt-BR" sz="1250" dirty="0"/>
          </a:p>
        </p:txBody>
      </p:sp>
      <p:sp>
        <p:nvSpPr>
          <p:cNvPr id="47" name="Text 37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15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mais frequentes no levantamento de Zhang, Wang e Ji (2015) na Web of Science. Em destaque, as três aplicações estudadas.</a:t>
            </a:r>
            <a:endParaRPr lang="pt-BR" sz="1150" dirty="0"/>
          </a:p>
        </p:txBody>
      </p:sp>
      <p:sp>
        <p:nvSpPr>
          <p:cNvPr id="48" name="credito_fundo"/>
          <p:cNvSpPr txBox="1"/>
          <p:nvPr/>
        </p:nvSpPr>
        <p:spPr>
          <a:xfrm>
            <a:off x="6309360" y="63825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pt-BR" sz="950" i="1" dirty="0">
                <a:solidFill>
                  <a:srgbClr val="CE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de fundo: sala de controle da National Grid (Reino Unido).</a:t>
            </a:r>
            <a:endParaRPr lang="pt-BR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3400" b="1" dirty="0">
                <a:solidFill>
                  <a:srgbClr val="1C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1: corte de vidro na vidraçaria</a:t>
            </a:r>
            <a:endParaRPr lang="pt-BR" sz="3400" dirty="0"/>
          </a:p>
        </p:txBody>
      </p:sp>
      <p:sp>
        <p:nvSpPr>
          <p:cNvPr id="3" name="pagina"/>
          <p:cNvSpPr txBox="1"/>
          <p:nvPr/>
        </p:nvSpPr>
        <p:spPr>
          <a:xfrm>
            <a:off x="1110996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1000" dirty="0">
                <a:solidFill>
                  <a:srgbClr val="868E96"/>
                </a:solidFill>
              </a:rPr>
              <a:t>12</a:t>
            </a:r>
            <a:endParaRPr lang="pt-BR" sz="1000" dirty="0"/>
          </a:p>
        </p:txBody>
      </p:sp>
      <p:sp>
        <p:nvSpPr>
          <p:cNvPr id="4" name="bloco"/>
          <p:cNvSpPr txBox="1"/>
          <p:nvPr/>
        </p:nvSpPr>
        <p:spPr>
          <a:xfrm>
            <a:off x="548640" y="1325880"/>
            <a:ext cx="5394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pt-BR" sz="1500" dirty="0"/>
          </a:p>
          <a:p>
            <a:pPr indent="0" marL="0">
              <a:buNone/>
            </a:pPr>
            <a:r>
              <a:rPr lang="pt-BR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vidraçaria compra chapas grandes e corta peças sob medida: janelas, box, tampos, espelhos. Cada sobra pequena demais vira descarte. O objetivo é encaixar as peças gastando o mínimo de chapa.</a:t>
            </a:r>
            <a:endParaRPr lang="pt-BR" sz="1500" dirty="0"/>
          </a:p>
        </p:txBody>
      </p:sp>
      <p:sp>
        <p:nvSpPr>
          <p:cNvPr id="5" name="bloco"/>
          <p:cNvSpPr txBox="1"/>
          <p:nvPr/>
        </p:nvSpPr>
        <p:spPr>
          <a:xfrm>
            <a:off x="548640" y="2788920"/>
            <a:ext cx="5394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codificação</a:t>
            </a:r>
            <a:endParaRPr lang="pt-BR" sz="1500" dirty="0"/>
          </a:p>
          <a:p>
            <a:pPr indent="0" marL="0">
              <a:buNone/>
            </a:pPr>
            <a:r>
              <a:rPr lang="pt-BR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peça ganha dois números reais. O primeiro é a chave de ordem: ordenando as chaves, sai a sequência de entrada na chapa. O segundo decide se a peça entra deitada.</a:t>
            </a:r>
            <a:endParaRPr lang="pt-BR" sz="1500" dirty="0"/>
          </a:p>
        </p:txBody>
      </p:sp>
      <p:sp>
        <p:nvSpPr>
          <p:cNvPr id="6" name="bloco"/>
          <p:cNvSpPr txBox="1"/>
          <p:nvPr/>
        </p:nvSpPr>
        <p:spPr>
          <a:xfrm>
            <a:off x="548640" y="425196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e funcionamento</a:t>
            </a:r>
            <a:endParaRPr lang="pt-BR" sz="1500" dirty="0"/>
          </a:p>
          <a:p>
            <a:pPr indent="0" marL="0">
              <a:buNone/>
            </a:pPr>
            <a:r>
              <a:rPr lang="pt-BR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heurística de encaixe coloca as peças nessa sequência em faixas, com cortes de ponta a ponta, como o vidro exige. A fitness conta as chapas usadas e premia deixar um retalho grande e inteiro no fim.</a:t>
            </a:r>
            <a:endParaRPr lang="pt-BR" sz="1500" dirty="0"/>
          </a:p>
        </p:txBody>
      </p:sp>
      <p:sp>
        <p:nvSpPr>
          <p:cNvPr id="7" name="card"/>
          <p:cNvSpPr/>
          <p:nvPr/>
        </p:nvSpPr>
        <p:spPr>
          <a:xfrm>
            <a:off x="6419088" y="1298448"/>
            <a:ext cx="5084064" cy="4223728"/>
          </a:xfrm>
          <a:prstGeom prst="roundRect">
            <a:avLst>
              <a:gd name="adj" fmla="val 2598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pic>
        <p:nvPicPr>
          <p:cNvPr id="8" name="codificacao_vidro" descr="assets/vidro_c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371600"/>
            <a:ext cx="4937760" cy="4077424"/>
          </a:xfrm>
          <a:prstGeom prst="rect">
            <a:avLst/>
          </a:prstGeom>
        </p:spPr>
      </p:pic>
      <p:sp>
        <p:nvSpPr>
          <p:cNvPr id="9" name="legenda"/>
          <p:cNvSpPr txBox="1"/>
          <p:nvPr/>
        </p:nvSpPr>
        <p:spPr>
          <a:xfrm>
            <a:off x="6309360" y="56235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05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8 - Da partícula ao plano de corte. Fonte: autoria própria.</a:t>
            </a:r>
            <a:endParaRPr lang="pt-BR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3400" b="1" dirty="0">
                <a:solidFill>
                  <a:srgbClr val="1C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Corte de vidro: resultado</a:t>
            </a:r>
            <a:endParaRPr lang="pt-BR" sz="3400" dirty="0"/>
          </a:p>
        </p:txBody>
      </p:sp>
      <p:sp>
        <p:nvSpPr>
          <p:cNvPr id="3" name="pagina"/>
          <p:cNvSpPr txBox="1"/>
          <p:nvPr/>
        </p:nvSpPr>
        <p:spPr>
          <a:xfrm>
            <a:off x="1110996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1000" dirty="0">
                <a:solidFill>
                  <a:srgbClr val="868E96"/>
                </a:solidFill>
              </a:rPr>
              <a:t>13</a:t>
            </a:r>
            <a:endParaRPr lang="pt-BR" sz="1000" dirty="0"/>
          </a:p>
        </p:txBody>
      </p:sp>
      <p:sp>
        <p:nvSpPr>
          <p:cNvPr id="4" name="card"/>
          <p:cNvSpPr/>
          <p:nvPr/>
        </p:nvSpPr>
        <p:spPr>
          <a:xfrm>
            <a:off x="566928" y="1298448"/>
            <a:ext cx="6821424" cy="4355081"/>
          </a:xfrm>
          <a:prstGeom prst="roundRect">
            <a:avLst>
              <a:gd name="adj" fmla="val 2520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pic>
        <p:nvPicPr>
          <p:cNvPr id="5" name="resultado_vidro" descr="assets/vidro_result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6675120" cy="4208777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365760" y="57607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05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9 - Simulação própria: 15 peças, chapa de 3,20 m × 2,20 m, 30 partículas, 150 iterações. Fonte: autoria própria.</a:t>
            </a:r>
            <a:endParaRPr lang="pt-BR" sz="1050" dirty="0"/>
          </a:p>
        </p:txBody>
      </p:sp>
      <p:sp>
        <p:nvSpPr>
          <p:cNvPr id="7" name="card"/>
          <p:cNvSpPr/>
          <p:nvPr/>
        </p:nvSpPr>
        <p:spPr>
          <a:xfrm>
            <a:off x="7790688" y="1344168"/>
            <a:ext cx="3895344" cy="1982269"/>
          </a:xfrm>
          <a:prstGeom prst="roundRect">
            <a:avLst>
              <a:gd name="adj" fmla="val 5535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pic>
        <p:nvPicPr>
          <p:cNvPr id="8" name="mesa_cnc" descr="assets/c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417320"/>
            <a:ext cx="3749040" cy="1835965"/>
          </a:xfrm>
          <a:prstGeom prst="rect">
            <a:avLst/>
          </a:prstGeom>
        </p:spPr>
      </p:pic>
      <p:sp>
        <p:nvSpPr>
          <p:cNvPr id="9" name="legenda"/>
          <p:cNvSpPr txBox="1"/>
          <p:nvPr/>
        </p:nvSpPr>
        <p:spPr>
          <a:xfrm>
            <a:off x="7680960" y="3401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05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10 - Mesa de corte CNC que recebe o plano. Fonte: Saintbest Group.</a:t>
            </a:r>
            <a:endParaRPr lang="pt-BR" sz="1050" dirty="0"/>
          </a:p>
        </p:txBody>
      </p:sp>
      <p:sp>
        <p:nvSpPr>
          <p:cNvPr id="10" name="card"/>
          <p:cNvSpPr/>
          <p:nvPr/>
        </p:nvSpPr>
        <p:spPr>
          <a:xfrm>
            <a:off x="7772400" y="3794760"/>
            <a:ext cx="1874520" cy="1143000"/>
          </a:xfrm>
          <a:prstGeom prst="roundRect">
            <a:avLst>
              <a:gd name="adj" fmla="val 96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863840" y="388620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28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→ 2</a:t>
            </a:r>
            <a:endParaRPr lang="pt-BR" sz="1500" dirty="0"/>
          </a:p>
          <a:p>
            <a:pPr algn="ctr" indent="0" marL="0">
              <a:buNone/>
            </a:pPr>
            <a:r>
              <a:rPr lang="pt-BR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chapas usadas</a:t>
            </a:r>
            <a:endParaRPr lang="pt-BR" sz="1500" dirty="0"/>
          </a:p>
        </p:txBody>
      </p:sp>
      <p:sp>
        <p:nvSpPr>
          <p:cNvPr id="12" name="card"/>
          <p:cNvSpPr/>
          <p:nvPr/>
        </p:nvSpPr>
        <p:spPr>
          <a:xfrm>
            <a:off x="9784080" y="3794760"/>
            <a:ext cx="1874520" cy="1143000"/>
          </a:xfrm>
          <a:prstGeom prst="roundRect">
            <a:avLst>
              <a:gd name="adj" fmla="val 96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875520" y="388620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28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 → 1,6</a:t>
            </a:r>
            <a:endParaRPr lang="pt-BR" sz="1500" dirty="0"/>
          </a:p>
          <a:p>
            <a:pPr algn="ctr" indent="0" marL="0">
              <a:buNone/>
            </a:pPr>
            <a:r>
              <a:rPr lang="pt-BR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m² de perda</a:t>
            </a:r>
            <a:endParaRPr lang="pt-BR" sz="1500" dirty="0"/>
          </a:p>
        </p:txBody>
      </p:sp>
      <p:sp>
        <p:nvSpPr>
          <p:cNvPr id="14" name="card"/>
          <p:cNvSpPr/>
          <p:nvPr/>
        </p:nvSpPr>
        <p:spPr>
          <a:xfrm>
            <a:off x="7772400" y="5120640"/>
            <a:ext cx="3886200" cy="1051560"/>
          </a:xfrm>
          <a:prstGeom prst="roundRect">
            <a:avLst>
              <a:gd name="adj" fmla="val 10435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955280" y="519379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2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literatura, Ayadi et al. (2017) usaram PSO com heurística de encaixe e ficaram com perda entre 2,6% e 7,8% da área em 22 instâncias.</a:t>
            </a:r>
            <a:endParaRPr lang="pt-BR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2: rotas para enxames de drones</a:t>
            </a:r>
            <a:endParaRPr lang="pt-BR" sz="3400" dirty="0"/>
          </a:p>
        </p:txBody>
      </p:sp>
      <p:sp>
        <p:nvSpPr>
          <p:cNvPr id="3" name="pagina"/>
          <p:cNvSpPr txBox="1"/>
          <p:nvPr/>
        </p:nvSpPr>
        <p:spPr>
          <a:xfrm>
            <a:off x="1110996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1000" dirty="0">
                <a:solidFill>
                  <a:srgbClr val="CED4DA"/>
                </a:solidFill>
              </a:rPr>
              <a:t>14</a:t>
            </a:r>
            <a:endParaRPr lang="pt-BR" sz="1000" dirty="0"/>
          </a:p>
        </p:txBody>
      </p:sp>
      <p:sp>
        <p:nvSpPr>
          <p:cNvPr id="4" name="card"/>
          <p:cNvSpPr/>
          <p:nvPr/>
        </p:nvSpPr>
        <p:spPr>
          <a:xfrm>
            <a:off x="365760" y="1280160"/>
            <a:ext cx="5486400" cy="3383280"/>
          </a:xfrm>
          <a:prstGeom prst="roundRect">
            <a:avLst>
              <a:gd name="adj" fmla="val 3243"/>
            </a:avLst>
          </a:prstGeom>
          <a:solidFill>
            <a:srgbClr val="0B0D10">
              <a:alpha val="75000"/>
            </a:srgbClr>
          </a:solidFill>
          <a:ln w="12700">
            <a:solidFill>
              <a:srgbClr val="5C636A"/>
            </a:solidFill>
            <a:prstDash val="solid"/>
          </a:ln>
        </p:spPr>
      </p:sp>
      <p:sp>
        <p:nvSpPr>
          <p:cNvPr id="5" name="bloco"/>
          <p:cNvSpPr txBox="1"/>
          <p:nvPr/>
        </p:nvSpPr>
        <p:spPr>
          <a:xfrm>
            <a:off x="594360" y="141732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t-BR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pt-BR" sz="1500" dirty="0"/>
          </a:p>
          <a:p>
            <a:pPr indent="0" marL="0">
              <a:buNone/>
            </a:pPr>
            <a:r>
              <a:rPr lang="pt-BR" sz="150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drones saem da base e vão até seus alvos para inspeção, vigilância ou busca. Precisam desviar de obstáculos, não bater uns nos outros e gastar pouca bateria.</a:t>
            </a:r>
            <a:endParaRPr lang="pt-BR" sz="1500" dirty="0"/>
          </a:p>
        </p:txBody>
      </p:sp>
      <p:sp>
        <p:nvSpPr>
          <p:cNvPr id="6" name="bloco"/>
          <p:cNvSpPr txBox="1"/>
          <p:nvPr/>
        </p:nvSpPr>
        <p:spPr>
          <a:xfrm>
            <a:off x="594360" y="3017520"/>
            <a:ext cx="5074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t-BR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codificação</a:t>
            </a:r>
            <a:endParaRPr lang="pt-BR" sz="1500" dirty="0"/>
          </a:p>
          <a:p>
            <a:pPr indent="0" marL="0">
              <a:buNone/>
            </a:pPr>
            <a:r>
              <a:rPr lang="pt-BR" sz="150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rota é descrita por pontos de passagem. Com 3 drones e 4 pontos cada, uma partícula carrega 24 números: as coordenadas x e y de todos os pontos.</a:t>
            </a:r>
            <a:endParaRPr lang="pt-BR" sz="1500" dirty="0"/>
          </a:p>
        </p:txBody>
      </p:sp>
      <p:sp>
        <p:nvSpPr>
          <p:cNvPr id="7" name="card"/>
          <p:cNvSpPr/>
          <p:nvPr/>
        </p:nvSpPr>
        <p:spPr>
          <a:xfrm>
            <a:off x="548640" y="475488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0B0D10">
              <a:alpha val="70000"/>
            </a:srgbClr>
          </a:solidFill>
          <a:ln w="12700">
            <a:solidFill>
              <a:srgbClr val="5C63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84632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350" i="1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show de luzes da foto segue coreografia pré-programada. O PSO entra antes, no planejamento das rotas.</a:t>
            </a:r>
            <a:endParaRPr lang="pt-BR" sz="1350" dirty="0"/>
          </a:p>
        </p:txBody>
      </p:sp>
      <p:sp>
        <p:nvSpPr>
          <p:cNvPr id="9" name="card"/>
          <p:cNvSpPr/>
          <p:nvPr/>
        </p:nvSpPr>
        <p:spPr>
          <a:xfrm>
            <a:off x="6080760" y="1417320"/>
            <a:ext cx="557784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codificacao_drones" descr="assets/drones_co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303520" cy="2360267"/>
          </a:xfrm>
          <a:prstGeom prst="rect">
            <a:avLst/>
          </a:prstGeom>
        </p:spPr>
      </p:pic>
      <p:sp>
        <p:nvSpPr>
          <p:cNvPr id="11" name="legenda"/>
          <p:cNvSpPr txBox="1"/>
          <p:nvPr/>
        </p:nvSpPr>
        <p:spPr>
          <a:xfrm>
            <a:off x="6035040" y="42976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050" i="1" dirty="0">
                <a:solidFill>
                  <a:srgbClr val="CE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11 - Partícula com os pontos de passagem de 3 drones. Fonte: autoria própria.</a:t>
            </a:r>
            <a:endParaRPr lang="pt-BR" sz="1050" dirty="0"/>
          </a:p>
        </p:txBody>
      </p:sp>
      <p:sp>
        <p:nvSpPr>
          <p:cNvPr id="12" name="credito_fundo"/>
          <p:cNvSpPr txBox="1"/>
          <p:nvPr/>
        </p:nvSpPr>
        <p:spPr>
          <a:xfrm>
            <a:off x="6309360" y="63825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pt-BR" sz="950" i="1" dirty="0">
                <a:solidFill>
                  <a:srgbClr val="CE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de fundo: show de drones. Fonte: Firefly Drone Shows.</a:t>
            </a:r>
            <a:endParaRPr lang="pt-BR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3400" b="1" dirty="0">
                <a:solidFill>
                  <a:srgbClr val="1C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Drones: fitness e funcionamento</a:t>
            </a:r>
            <a:endParaRPr lang="pt-BR" sz="3400" dirty="0"/>
          </a:p>
        </p:txBody>
      </p:sp>
      <p:sp>
        <p:nvSpPr>
          <p:cNvPr id="3" name="pagina"/>
          <p:cNvSpPr txBox="1"/>
          <p:nvPr/>
        </p:nvSpPr>
        <p:spPr>
          <a:xfrm>
            <a:off x="1110996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1000" dirty="0">
                <a:solidFill>
                  <a:srgbClr val="868E96"/>
                </a:solidFill>
              </a:rPr>
              <a:t>15</a:t>
            </a:r>
            <a:endParaRPr lang="pt-BR" sz="10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5669280" cy="1417320"/>
          </a:xfrm>
          <a:prstGeom prst="roundRect">
            <a:avLst>
              <a:gd name="adj" fmla="val 7742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6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comprimento total</a:t>
            </a:r>
            <a:pPr indent="0" marL="0">
              <a:buNone/>
            </a:pPr>
            <a:r>
              <a:rPr lang="pt-BR" sz="16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λ1 × invasão de obstáculos</a:t>
            </a:r>
            <a:pPr indent="0" marL="0">
              <a:buNone/>
            </a:pPr>
            <a:r>
              <a:rPr lang="pt-BR" sz="16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λ2 × conflito entre drones</a:t>
            </a:r>
            <a:endParaRPr lang="pt-BR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3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inválida não é proibida, só fica cara. Assim o enxame aprende sozinho a desviar.</a:t>
            </a:r>
            <a:endParaRPr lang="pt-BR" sz="1350" dirty="0"/>
          </a:p>
        </p:txBody>
      </p:sp>
      <p:sp>
        <p:nvSpPr>
          <p:cNvPr id="7" name="passo"/>
          <p:cNvSpPr/>
          <p:nvPr/>
        </p:nvSpPr>
        <p:spPr>
          <a:xfrm>
            <a:off x="594360" y="3017520"/>
            <a:ext cx="457200" cy="457200"/>
          </a:xfrm>
          <a:prstGeom prst="ellipse">
            <a:avLst/>
          </a:prstGeom>
          <a:solidFill>
            <a:srgbClr val="1C1F23"/>
          </a:solidFill>
          <a:ln w="12700">
            <a:solidFill>
              <a:srgbClr val="1C1F2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pt-BR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017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50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Sorteia rotas perto da linha reta entre base e alvo</a:t>
            </a:r>
            <a:endParaRPr lang="pt-BR" sz="1450" dirty="0"/>
          </a:p>
        </p:txBody>
      </p:sp>
      <p:sp>
        <p:nvSpPr>
          <p:cNvPr id="10" name="passo"/>
          <p:cNvSpPr/>
          <p:nvPr/>
        </p:nvSpPr>
        <p:spPr>
          <a:xfrm>
            <a:off x="594360" y="3639312"/>
            <a:ext cx="457200" cy="457200"/>
          </a:xfrm>
          <a:prstGeom prst="ellipse">
            <a:avLst/>
          </a:prstGeom>
          <a:solidFill>
            <a:srgbClr val="1C1F23"/>
          </a:solidFill>
          <a:ln w="12700">
            <a:solidFill>
              <a:srgbClr val="1C1F2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6393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50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F de cada partícula</a:t>
            </a:r>
            <a:endParaRPr lang="pt-BR" sz="1450" dirty="0"/>
          </a:p>
        </p:txBody>
      </p:sp>
      <p:sp>
        <p:nvSpPr>
          <p:cNvPr id="13" name="passo"/>
          <p:cNvSpPr/>
          <p:nvPr/>
        </p:nvSpPr>
        <p:spPr>
          <a:xfrm>
            <a:off x="594360" y="4261104"/>
            <a:ext cx="457200" cy="457200"/>
          </a:xfrm>
          <a:prstGeom prst="ellipse">
            <a:avLst/>
          </a:prstGeom>
          <a:solidFill>
            <a:srgbClr val="1C1F23"/>
          </a:solidFill>
          <a:ln w="12700">
            <a:solidFill>
              <a:srgbClr val="1C1F2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2611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50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 pbest e gbest</a:t>
            </a:r>
            <a:endParaRPr lang="pt-BR" sz="1450" dirty="0"/>
          </a:p>
        </p:txBody>
      </p:sp>
      <p:sp>
        <p:nvSpPr>
          <p:cNvPr id="16" name="passo"/>
          <p:cNvSpPr/>
          <p:nvPr/>
        </p:nvSpPr>
        <p:spPr>
          <a:xfrm>
            <a:off x="594360" y="4882896"/>
            <a:ext cx="457200" cy="457200"/>
          </a:xfrm>
          <a:prstGeom prst="ellipse">
            <a:avLst/>
          </a:prstGeom>
          <a:solidFill>
            <a:srgbClr val="1C1F23"/>
          </a:solidFill>
          <a:ln w="12700">
            <a:solidFill>
              <a:srgbClr val="1C1F2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4882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pt-BR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8828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50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os pontos de passagem e repete</a:t>
            </a:r>
            <a:endParaRPr lang="pt-BR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321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25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Ahmed, Pawase e Chang (2021) rodaram um PSO dentro de cada drone para cobrir toda uma área de vigilância sem colisão. As rotas costumam ser suavizadas com curvas B-spline para o drone conseguir voar.</a:t>
            </a:r>
            <a:endParaRPr lang="pt-BR" sz="1250" dirty="0"/>
          </a:p>
        </p:txBody>
      </p:sp>
      <p:sp>
        <p:nvSpPr>
          <p:cNvPr id="20" name="card"/>
          <p:cNvSpPr/>
          <p:nvPr/>
        </p:nvSpPr>
        <p:spPr>
          <a:xfrm>
            <a:off x="6537960" y="1371600"/>
            <a:ext cx="512064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graphicFrame>
        <p:nvGraphicFramePr>
          <p:cNvPr id="21" name="Chart 0" descr=""/>
          <p:cNvGraphicFramePr/>
          <p:nvPr/>
        </p:nvGraphicFramePr>
        <p:xfrm>
          <a:off x="6675120" y="1463040"/>
          <a:ext cx="484632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legenda"/>
          <p:cNvSpPr txBox="1"/>
          <p:nvPr/>
        </p:nvSpPr>
        <p:spPr>
          <a:xfrm>
            <a:off x="6537960" y="58704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05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12 - Queda do custo na simulação própria. Fonte: autoria própria.</a:t>
            </a:r>
            <a:endParaRPr lang="pt-BR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3400" b="1" dirty="0">
                <a:solidFill>
                  <a:srgbClr val="1C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Drones: resultado</a:t>
            </a:r>
            <a:endParaRPr lang="pt-BR" sz="3400" dirty="0"/>
          </a:p>
        </p:txBody>
      </p:sp>
      <p:sp>
        <p:nvSpPr>
          <p:cNvPr id="3" name="pagina"/>
          <p:cNvSpPr txBox="1"/>
          <p:nvPr/>
        </p:nvSpPr>
        <p:spPr>
          <a:xfrm>
            <a:off x="1110996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1000" dirty="0">
                <a:solidFill>
                  <a:srgbClr val="868E96"/>
                </a:solidFill>
              </a:rPr>
              <a:t>16</a:t>
            </a:r>
            <a:endParaRPr lang="pt-BR" sz="1000" dirty="0"/>
          </a:p>
        </p:txBody>
      </p:sp>
      <p:sp>
        <p:nvSpPr>
          <p:cNvPr id="4" name="card"/>
          <p:cNvSpPr/>
          <p:nvPr/>
        </p:nvSpPr>
        <p:spPr>
          <a:xfrm>
            <a:off x="566928" y="1389888"/>
            <a:ext cx="7735824" cy="3765531"/>
          </a:xfrm>
          <a:prstGeom prst="roundRect">
            <a:avLst>
              <a:gd name="adj" fmla="val 2914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pic>
        <p:nvPicPr>
          <p:cNvPr id="5" name="resultado_drones" descr="assets/drones_result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7589520" cy="3619227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52303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05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13 - Simulação própria: 3 drones, 4 pontos cada, 50 partículas, 400 iterações. Fonte: autoria própria.</a:t>
            </a:r>
            <a:endParaRPr lang="pt-BR" sz="1050" dirty="0"/>
          </a:p>
        </p:txBody>
      </p:sp>
      <p:sp>
        <p:nvSpPr>
          <p:cNvPr id="7" name="card"/>
          <p:cNvSpPr/>
          <p:nvPr/>
        </p:nvSpPr>
        <p:spPr>
          <a:xfrm>
            <a:off x="8641080" y="1417320"/>
            <a:ext cx="3017520" cy="1188720"/>
          </a:xfrm>
          <a:prstGeom prst="roundRect">
            <a:avLst>
              <a:gd name="adj" fmla="val 9231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78240" y="15087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30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−44%</a:t>
            </a:r>
            <a:endParaRPr lang="pt-BR" sz="1500" dirty="0"/>
          </a:p>
          <a:p>
            <a:pPr algn="ctr" indent="0" marL="0">
              <a:buNone/>
            </a:pPr>
            <a:r>
              <a:rPr lang="pt-BR" sz="12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comprimento das rotas</a:t>
            </a:r>
            <a:endParaRPr lang="pt-BR" sz="1500" dirty="0"/>
          </a:p>
        </p:txBody>
      </p:sp>
      <p:sp>
        <p:nvSpPr>
          <p:cNvPr id="9" name="card"/>
          <p:cNvSpPr/>
          <p:nvPr/>
        </p:nvSpPr>
        <p:spPr>
          <a:xfrm>
            <a:off x="8641080" y="2788920"/>
            <a:ext cx="3017520" cy="1188720"/>
          </a:xfrm>
          <a:prstGeom prst="roundRect">
            <a:avLst>
              <a:gd name="adj" fmla="val 9231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778240" y="2880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30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 0</a:t>
            </a:r>
            <a:endParaRPr lang="pt-BR" sz="1500" dirty="0"/>
          </a:p>
          <a:p>
            <a:pPr algn="ctr" indent="0" marL="0">
              <a:buNone/>
            </a:pPr>
            <a:r>
              <a:rPr lang="pt-BR" sz="12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invasões e conflitos no final</a:t>
            </a:r>
            <a:endParaRPr lang="pt-BR" sz="1500" dirty="0"/>
          </a:p>
        </p:txBody>
      </p:sp>
      <p:sp>
        <p:nvSpPr>
          <p:cNvPr id="11" name="card"/>
          <p:cNvSpPr/>
          <p:nvPr/>
        </p:nvSpPr>
        <p:spPr>
          <a:xfrm>
            <a:off x="8641080" y="4160520"/>
            <a:ext cx="3017520" cy="2011680"/>
          </a:xfrm>
          <a:prstGeom prst="roundRect">
            <a:avLst>
              <a:gd name="adj" fmla="val 5455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796528" y="4251960"/>
            <a:ext cx="27249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2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Meng, Chen e Qu (2024) criaram o PPSwarm, um PSO híbrido que planejou rotas para 40 drones em quatro cenários e escalou até 500 drones.</a:t>
            </a:r>
            <a:endParaRPr lang="pt-BR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5778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3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iteração 0 a melhor rota sorteada atravessa obstáculos. No fim, as três rotas desviam de tudo e ficam bem mais curtas.</a:t>
            </a:r>
            <a:endParaRPr lang="pt-BR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3400" b="1" dirty="0">
                <a:solidFill>
                  <a:srgbClr val="1C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3: hiperparâmetros de redes neurais</a:t>
            </a:r>
            <a:endParaRPr lang="pt-BR" sz="3400" dirty="0"/>
          </a:p>
        </p:txBody>
      </p:sp>
      <p:sp>
        <p:nvSpPr>
          <p:cNvPr id="3" name="pagina"/>
          <p:cNvSpPr txBox="1"/>
          <p:nvPr/>
        </p:nvSpPr>
        <p:spPr>
          <a:xfrm>
            <a:off x="1110996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1000" dirty="0">
                <a:solidFill>
                  <a:srgbClr val="868E96"/>
                </a:solidFill>
              </a:rPr>
              <a:t>17</a:t>
            </a:r>
            <a:endParaRPr lang="pt-BR" sz="1000" dirty="0"/>
          </a:p>
        </p:txBody>
      </p:sp>
      <p:sp>
        <p:nvSpPr>
          <p:cNvPr id="4" name="bloco"/>
          <p:cNvSpPr txBox="1"/>
          <p:nvPr/>
        </p:nvSpPr>
        <p:spPr>
          <a:xfrm>
            <a:off x="548640" y="13258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pt-BR" sz="1500" dirty="0"/>
          </a:p>
          <a:p>
            <a:pPr indent="0" marL="0">
              <a:buNone/>
            </a:pPr>
            <a:r>
              <a:rPr lang="pt-BR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treinar uma rede é preciso escolher a taxa de aprendizado, o número de camadas e de neurônios e a regularização. Escolha ruim estraga o resultado, e testar todas as combinações explode.</a:t>
            </a:r>
            <a:endParaRPr lang="pt-BR" sz="1500" dirty="0"/>
          </a:p>
        </p:txBody>
      </p:sp>
      <p:sp>
        <p:nvSpPr>
          <p:cNvPr id="5" name="bloco"/>
          <p:cNvSpPr txBox="1"/>
          <p:nvPr/>
        </p:nvSpPr>
        <p:spPr>
          <a:xfrm>
            <a:off x="548640" y="28803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codificação</a:t>
            </a:r>
            <a:endParaRPr lang="pt-BR" sz="1500" dirty="0"/>
          </a:p>
          <a:p>
            <a:pPr indent="0" marL="0">
              <a:buNone/>
            </a:pPr>
            <a:r>
              <a:rPr lang="pt-BR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partícula com 4 números: log da taxa de aprendizado, camadas, neurônios e log da regularização. Valores inteiros são arredondados na decodificação.</a:t>
            </a:r>
            <a:endParaRPr lang="pt-BR" sz="1500" dirty="0"/>
          </a:p>
        </p:txBody>
      </p:sp>
      <p:sp>
        <p:nvSpPr>
          <p:cNvPr id="6" name="bloco"/>
          <p:cNvSpPr txBox="1"/>
          <p:nvPr/>
        </p:nvSpPr>
        <p:spPr>
          <a:xfrm>
            <a:off x="548640" y="43434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fitness</a:t>
            </a:r>
            <a:endParaRPr lang="pt-BR" sz="1500" dirty="0"/>
          </a:p>
          <a:p>
            <a:pPr indent="0" marL="0">
              <a:buNone/>
            </a:pPr>
            <a:r>
              <a:rPr lang="pt-BR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da rede nos dados de validação. Cada avaliação significa treinar uma rede inteira, por isso o enxame costuma ser pequeno.</a:t>
            </a:r>
            <a:endParaRPr lang="pt-BR" sz="1500" dirty="0"/>
          </a:p>
        </p:txBody>
      </p:sp>
      <p:sp>
        <p:nvSpPr>
          <p:cNvPr id="7" name="card"/>
          <p:cNvSpPr/>
          <p:nvPr/>
        </p:nvSpPr>
        <p:spPr>
          <a:xfrm>
            <a:off x="6099048" y="1527048"/>
            <a:ext cx="5541264" cy="2493980"/>
          </a:xfrm>
          <a:prstGeom prst="roundRect">
            <a:avLst>
              <a:gd name="adj" fmla="val 4400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pic>
        <p:nvPicPr>
          <p:cNvPr id="8" name="ciclo_hiper" descr="assets/hiper_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600200"/>
            <a:ext cx="5394960" cy="2347676"/>
          </a:xfrm>
          <a:prstGeom prst="rect">
            <a:avLst/>
          </a:prstGeom>
        </p:spPr>
      </p:pic>
      <p:sp>
        <p:nvSpPr>
          <p:cNvPr id="9" name="legenda"/>
          <p:cNvSpPr txBox="1"/>
          <p:nvPr/>
        </p:nvSpPr>
        <p:spPr>
          <a:xfrm>
            <a:off x="6035040" y="41148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05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14 - Ciclo de avaliação de uma partícula. Fonte: autoria própria.</a:t>
            </a:r>
            <a:endParaRPr lang="pt-BR" sz="1050" dirty="0"/>
          </a:p>
        </p:txBody>
      </p:sp>
      <p:sp>
        <p:nvSpPr>
          <p:cNvPr id="10" name="card"/>
          <p:cNvSpPr/>
          <p:nvPr/>
        </p:nvSpPr>
        <p:spPr>
          <a:xfrm>
            <a:off x="6080760" y="4572000"/>
            <a:ext cx="5577840" cy="1508760"/>
          </a:xfrm>
          <a:prstGeom prst="roundRect">
            <a:avLst>
              <a:gd name="adj" fmla="val 7273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63640" y="4645152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3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Lorenzo et al. (2017) aplicaram PSO para escolher hiperparâmetros de redes neurais profundas e apresentaram o método no GECCO, uma das principais conferências de computação evolutiva.</a:t>
            </a:r>
            <a:endParaRPr lang="pt-BR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3400" b="1" dirty="0">
                <a:solidFill>
                  <a:srgbClr val="1C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Hiperparâmetros: funcionamento e resultado</a:t>
            </a:r>
            <a:endParaRPr lang="pt-BR" sz="3400" dirty="0"/>
          </a:p>
        </p:txBody>
      </p:sp>
      <p:sp>
        <p:nvSpPr>
          <p:cNvPr id="3" name="pagina"/>
          <p:cNvSpPr txBox="1"/>
          <p:nvPr/>
        </p:nvSpPr>
        <p:spPr>
          <a:xfrm>
            <a:off x="1110996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1000" dirty="0">
                <a:solidFill>
                  <a:srgbClr val="868E96"/>
                </a:solidFill>
              </a:rPr>
              <a:t>18</a:t>
            </a:r>
            <a:endParaRPr lang="pt-BR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25880"/>
          <a:ext cx="56692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legenda"/>
          <p:cNvSpPr txBox="1"/>
          <p:nvPr/>
        </p:nvSpPr>
        <p:spPr>
          <a:xfrm>
            <a:off x="365760" y="56235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05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15 - Rede MLP no conjunto de dígitos manuscritos (1.797 imagens). Fonte: autoria própria.</a:t>
            </a:r>
            <a:endParaRPr lang="pt-BR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667512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350" b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Hiperparâmetro</a:t>
            </a:r>
            <a:endParaRPr lang="pt-BR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9052560" y="1371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pt-BR" sz="1350" b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</a:t>
            </a:r>
            <a:endParaRPr lang="pt-BR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0332720" y="1371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pt-BR" sz="135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</a:t>
            </a:r>
            <a:endParaRPr lang="pt-BR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17830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400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aprendizado</a:t>
            </a:r>
            <a:endParaRPr lang="pt-BR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052560" y="1783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pt-BR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0,001</a:t>
            </a:r>
            <a:endParaRPr lang="pt-BR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0332720" y="1783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pt-BR" sz="14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0,016</a:t>
            </a:r>
            <a:endParaRPr lang="pt-BR" sz="1400" dirty="0"/>
          </a:p>
        </p:txBody>
      </p:sp>
      <p:sp>
        <p:nvSpPr>
          <p:cNvPr id="12" name="divisor"/>
          <p:cNvSpPr/>
          <p:nvPr/>
        </p:nvSpPr>
        <p:spPr>
          <a:xfrm>
            <a:off x="6675120" y="2194560"/>
            <a:ext cx="493776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675120" y="22402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400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 ocultas</a:t>
            </a:r>
            <a:endParaRPr lang="pt-BR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052560" y="22402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pt-BR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pt-BR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332720" y="22402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pt-BR" sz="14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pt-BR" sz="1400" dirty="0"/>
          </a:p>
        </p:txBody>
      </p:sp>
      <p:sp>
        <p:nvSpPr>
          <p:cNvPr id="16" name="divisor"/>
          <p:cNvSpPr/>
          <p:nvPr/>
        </p:nvSpPr>
        <p:spPr>
          <a:xfrm>
            <a:off x="6675120" y="2651760"/>
            <a:ext cx="493776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75120" y="2697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400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Neurônios</a:t>
            </a:r>
            <a:endParaRPr lang="pt-BR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052560" y="26974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pt-BR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pt-BR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0" y="26974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pt-BR" sz="14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</a:t>
            </a:r>
            <a:endParaRPr lang="pt-BR" sz="1400" dirty="0"/>
          </a:p>
        </p:txBody>
      </p:sp>
      <p:sp>
        <p:nvSpPr>
          <p:cNvPr id="20" name="divisor"/>
          <p:cNvSpPr/>
          <p:nvPr/>
        </p:nvSpPr>
        <p:spPr>
          <a:xfrm>
            <a:off x="6675120" y="3108960"/>
            <a:ext cx="493776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675120" y="3154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400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Regularização</a:t>
            </a:r>
            <a:endParaRPr lang="pt-BR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052560" y="3154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pt-BR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0,0001</a:t>
            </a:r>
            <a:endParaRPr lang="pt-BR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0332720" y="31546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pt-BR" sz="14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</a:t>
            </a:r>
            <a:endParaRPr lang="pt-BR" sz="1400" dirty="0"/>
          </a:p>
        </p:txBody>
      </p:sp>
      <p:sp>
        <p:nvSpPr>
          <p:cNvPr id="24" name="divisor"/>
          <p:cNvSpPr/>
          <p:nvPr/>
        </p:nvSpPr>
        <p:spPr>
          <a:xfrm>
            <a:off x="6675120" y="3566160"/>
            <a:ext cx="493776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25" name="card"/>
          <p:cNvSpPr/>
          <p:nvPr/>
        </p:nvSpPr>
        <p:spPr>
          <a:xfrm>
            <a:off x="6675120" y="379476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766560" y="3886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28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</a:t>
            </a:r>
            <a:endParaRPr lang="pt-BR" sz="1500" dirty="0"/>
          </a:p>
          <a:p>
            <a:pPr algn="ctr" indent="0" marL="0">
              <a:buNone/>
            </a:pPr>
            <a:r>
              <a:rPr lang="pt-BR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treinos de rede</a:t>
            </a:r>
            <a:endParaRPr lang="pt-BR" sz="1500" dirty="0"/>
          </a:p>
        </p:txBody>
      </p:sp>
      <p:sp>
        <p:nvSpPr>
          <p:cNvPr id="27" name="card"/>
          <p:cNvSpPr/>
          <p:nvPr/>
        </p:nvSpPr>
        <p:spPr>
          <a:xfrm>
            <a:off x="9235440" y="3794760"/>
            <a:ext cx="2423160" cy="1188720"/>
          </a:xfrm>
          <a:prstGeom prst="roundRect">
            <a:avLst>
              <a:gd name="adj" fmla="val 9231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281160" y="38862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24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2,8% → 2,0%</a:t>
            </a:r>
            <a:endParaRPr lang="pt-BR" sz="1500" dirty="0"/>
          </a:p>
          <a:p>
            <a:pPr algn="ctr" indent="0" marL="0">
              <a:buNone/>
            </a:pPr>
            <a:r>
              <a:rPr lang="pt-BR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no teste</a:t>
            </a:r>
            <a:endParaRPr lang="pt-BR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675120" y="51663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3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Enxame de 10 partículas por 13 rodadas. O ganho foi pequeno porque o problema é fácil. Em redes grandes, onde cada treino leva horas, buscar com inteligência faz muito mais diferença.</a:t>
            </a:r>
            <a:endParaRPr lang="pt-BR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3400" b="1" dirty="0">
                <a:solidFill>
                  <a:srgbClr val="1C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Vantagens e limitações</a:t>
            </a:r>
            <a:endParaRPr lang="pt-BR" sz="3400" dirty="0"/>
          </a:p>
        </p:txBody>
      </p:sp>
      <p:sp>
        <p:nvSpPr>
          <p:cNvPr id="3" name="pagina"/>
          <p:cNvSpPr txBox="1"/>
          <p:nvPr/>
        </p:nvSpPr>
        <p:spPr>
          <a:xfrm>
            <a:off x="1110996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1000" dirty="0">
                <a:solidFill>
                  <a:srgbClr val="868E96"/>
                </a:solidFill>
              </a:rPr>
              <a:t>19</a:t>
            </a:r>
            <a:endParaRPr lang="pt-BR" sz="10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5440680" cy="4800600"/>
          </a:xfrm>
          <a:prstGeom prst="roundRect">
            <a:avLst>
              <a:gd name="adj" fmla="val 2286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" name="card"/>
          <p:cNvSpPr/>
          <p:nvPr/>
        </p:nvSpPr>
        <p:spPr>
          <a:xfrm>
            <a:off x="6217920" y="1371600"/>
            <a:ext cx="5440680" cy="4800600"/>
          </a:xfrm>
          <a:prstGeom prst="roundRect">
            <a:avLst>
              <a:gd name="adj" fmla="val 2286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20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</a:t>
            </a:r>
            <a:endParaRPr lang="pt-BR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20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</a:t>
            </a:r>
            <a:endParaRPr lang="pt-BR" sz="2000" dirty="0"/>
          </a:p>
        </p:txBody>
      </p:sp>
      <p:pic>
        <p:nvPicPr>
          <p:cNvPr id="8" name="icone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48840"/>
            <a:ext cx="292608" cy="2926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21031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45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</a:t>
            </a:r>
            <a:endParaRPr lang="pt-BR" sz="1450" dirty="0"/>
          </a:p>
          <a:p>
            <a:pPr indent="0" marL="0">
              <a:buNone/>
            </a:pPr>
            <a:r>
              <a:rPr lang="pt-BR" sz="13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equações e poucas linhas de código.</a:t>
            </a:r>
            <a:endParaRPr lang="pt-BR" sz="1450" dirty="0"/>
          </a:p>
        </p:txBody>
      </p:sp>
      <p:pic>
        <p:nvPicPr>
          <p:cNvPr id="10" name="icone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3522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2889504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45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de derivada</a:t>
            </a:r>
            <a:endParaRPr lang="pt-BR" sz="1450" dirty="0"/>
          </a:p>
          <a:p>
            <a:pPr indent="0" marL="0">
              <a:buNone/>
            </a:pPr>
            <a:r>
              <a:rPr lang="pt-BR" sz="13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precisa avaliar a função.</a:t>
            </a:r>
            <a:endParaRPr lang="pt-BR" sz="1450" dirty="0"/>
          </a:p>
        </p:txBody>
      </p:sp>
      <p:pic>
        <p:nvPicPr>
          <p:cNvPr id="12" name="icone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21608"/>
            <a:ext cx="292608" cy="29260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367588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45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parâmetros</a:t>
            </a:r>
            <a:endParaRPr lang="pt-BR" sz="1450" dirty="0"/>
          </a:p>
          <a:p>
            <a:pPr indent="0" marL="0">
              <a:buNone/>
            </a:pPr>
            <a:r>
              <a:rPr lang="pt-BR" sz="13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w, c1, c2, tamanho do enxame e parada.</a:t>
            </a:r>
            <a:endParaRPr lang="pt-BR" sz="1450" dirty="0"/>
          </a:p>
        </p:txBody>
      </p:sp>
      <p:pic>
        <p:nvPicPr>
          <p:cNvPr id="14" name="icone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07992"/>
            <a:ext cx="292608" cy="29260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25880" y="446227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45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Paralelizável</a:t>
            </a:r>
            <a:endParaRPr lang="pt-BR" sz="1450" dirty="0"/>
          </a:p>
          <a:p>
            <a:pPr indent="0" marL="0">
              <a:buNone/>
            </a:pPr>
            <a:r>
              <a:rPr lang="pt-BR" sz="13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partícula pode ser avaliada separada.</a:t>
            </a:r>
            <a:endParaRPr lang="pt-BR" sz="1450" dirty="0"/>
          </a:p>
        </p:txBody>
      </p:sp>
      <p:pic>
        <p:nvPicPr>
          <p:cNvPr id="16" name="icone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294376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25880" y="5248656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45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Flexível</a:t>
            </a:r>
            <a:endParaRPr lang="pt-BR" sz="1450" dirty="0"/>
          </a:p>
          <a:p>
            <a:pPr indent="0" marL="0">
              <a:buNone/>
            </a:pPr>
            <a:r>
              <a:rPr lang="pt-BR" sz="13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Contínuo, binário, discreto e multiobjetivo.</a:t>
            </a:r>
            <a:endParaRPr lang="pt-BR" sz="1450" dirty="0"/>
          </a:p>
        </p:txBody>
      </p:sp>
      <p:pic>
        <p:nvPicPr>
          <p:cNvPr id="18" name="icone" descr="icons/war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2148840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6995160" y="21031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45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Convergência prematura</a:t>
            </a:r>
            <a:endParaRPr lang="pt-BR" sz="1450" dirty="0"/>
          </a:p>
          <a:p>
            <a:pPr indent="0" marL="0">
              <a:buNone/>
            </a:pPr>
            <a:r>
              <a:rPr lang="pt-BR" sz="13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enxame pode se juntar num ótimo local.</a:t>
            </a:r>
            <a:endParaRPr lang="pt-BR" sz="1450" dirty="0"/>
          </a:p>
        </p:txBody>
      </p:sp>
      <p:pic>
        <p:nvPicPr>
          <p:cNvPr id="20" name="icone" descr="icons/war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2935224"/>
            <a:ext cx="292608" cy="292608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6995160" y="2889504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45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Sensível aos parâmetros</a:t>
            </a:r>
            <a:endParaRPr lang="pt-BR" sz="1450" dirty="0"/>
          </a:p>
          <a:p>
            <a:pPr indent="0" marL="0">
              <a:buNone/>
            </a:pPr>
            <a:r>
              <a:rPr lang="pt-BR" sz="13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w, c1 e c2 mudam muito o resultado.</a:t>
            </a:r>
            <a:endParaRPr lang="pt-BR" sz="1450" dirty="0"/>
          </a:p>
        </p:txBody>
      </p:sp>
      <p:pic>
        <p:nvPicPr>
          <p:cNvPr id="22" name="icone" descr="icons/war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3721608"/>
            <a:ext cx="292608" cy="292608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6995160" y="367588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45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garantia de ótimo</a:t>
            </a:r>
            <a:endParaRPr lang="pt-BR" sz="1450" dirty="0"/>
          </a:p>
          <a:p>
            <a:pPr indent="0" marL="0">
              <a:buNone/>
            </a:pPr>
            <a:r>
              <a:rPr lang="pt-BR" sz="13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uma solução boa, não a melhor provada.</a:t>
            </a:r>
            <a:endParaRPr lang="pt-BR" sz="1450" dirty="0"/>
          </a:p>
        </p:txBody>
      </p:sp>
      <p:pic>
        <p:nvPicPr>
          <p:cNvPr id="24" name="icone" descr="icons/war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4507992"/>
            <a:ext cx="292608" cy="292608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6995160" y="446227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45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Discreto exige codificação</a:t>
            </a:r>
            <a:endParaRPr lang="pt-BR" sz="1450" dirty="0"/>
          </a:p>
          <a:p>
            <a:pPr indent="0" marL="0">
              <a:buNone/>
            </a:pPr>
            <a:r>
              <a:rPr lang="pt-BR" sz="13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as chaves aleatórias do vidro.</a:t>
            </a:r>
            <a:endParaRPr lang="pt-BR" sz="1450" dirty="0"/>
          </a:p>
        </p:txBody>
      </p:sp>
      <p:pic>
        <p:nvPicPr>
          <p:cNvPr id="26" name="icone" descr="icons/war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60" y="5294376"/>
            <a:ext cx="292608" cy="292608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6995160" y="5248656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45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cara pesa</a:t>
            </a:r>
            <a:endParaRPr lang="pt-BR" sz="1450" dirty="0"/>
          </a:p>
          <a:p>
            <a:pPr indent="0" marL="0">
              <a:buNone/>
            </a:pPr>
            <a:r>
              <a:rPr lang="pt-BR" sz="13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avaliação de hiperparâmetro é um treino.</a:t>
            </a:r>
            <a:endParaRPr lang="pt-BR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3400" b="1" dirty="0">
                <a:solidFill>
                  <a:srgbClr val="1C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PSO no cenário geral</a:t>
            </a:r>
            <a:endParaRPr lang="pt-BR" sz="3400" dirty="0"/>
          </a:p>
        </p:txBody>
      </p:sp>
      <p:sp>
        <p:nvSpPr>
          <p:cNvPr id="3" name="pagina"/>
          <p:cNvSpPr txBox="1"/>
          <p:nvPr/>
        </p:nvSpPr>
        <p:spPr>
          <a:xfrm>
            <a:off x="1110996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1000" dirty="0">
                <a:solidFill>
                  <a:srgbClr val="868E96"/>
                </a:solidFill>
              </a:rPr>
              <a:t>20</a:t>
            </a:r>
            <a:endParaRPr lang="pt-BR" sz="10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4937760" cy="3017520"/>
          </a:xfrm>
          <a:prstGeom prst="roundRect">
            <a:avLst>
              <a:gd name="adj" fmla="val 3636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4389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publicações que outros seis algoritmos somados</a:t>
            </a:r>
            <a:endParaRPr lang="pt-BR" sz="1500" dirty="0"/>
          </a:p>
          <a:p>
            <a:pPr indent="0" marL="0">
              <a:buNone/>
            </a:pPr>
            <a:r>
              <a:rPr lang="pt-BR" sz="1400" dirty="0">
                <a:solidFill>
                  <a:srgbClr val="CE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levantamento na Web of Science, o PSO superou a soma de ACO, DE, ABC, BA, BFO e GSO e também teve o maior número de publicações por ano entre eles, segundo Zhang, Wang e Ji (2015).</a:t>
            </a:r>
            <a:endParaRPr lang="pt-BR" sz="1500" dirty="0"/>
          </a:p>
        </p:txBody>
      </p:sp>
      <p:sp>
        <p:nvSpPr>
          <p:cNvPr id="6" name="card"/>
          <p:cNvSpPr/>
          <p:nvPr/>
        </p:nvSpPr>
        <p:spPr>
          <a:xfrm>
            <a:off x="548640" y="4617720"/>
            <a:ext cx="4937760" cy="1554480"/>
          </a:xfrm>
          <a:prstGeom prst="roundRect">
            <a:avLst>
              <a:gd name="adj" fmla="val 7059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4736592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6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em alta</a:t>
            </a:r>
            <a:endParaRPr lang="pt-BR" sz="1500" dirty="0"/>
          </a:p>
          <a:p>
            <a:pPr indent="0" marL="0">
              <a:buNone/>
            </a:pPr>
            <a:r>
              <a:rPr lang="pt-BR" sz="13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Shami et al. (2022) descrevem o PSO como um dos algoritmos de enxame mais bem conceituados da literatura, com muitas variantes novas.</a:t>
            </a:r>
            <a:endParaRPr lang="pt-BR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897880" y="137160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8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que mais usam</a:t>
            </a:r>
            <a:endParaRPr lang="pt-BR" sz="1800" dirty="0"/>
          </a:p>
        </p:txBody>
      </p:sp>
      <p:sp>
        <p:nvSpPr>
          <p:cNvPr id="9" name="area"/>
          <p:cNvSpPr/>
          <p:nvPr/>
        </p:nvSpPr>
        <p:spPr>
          <a:xfrm>
            <a:off x="5897880" y="1874520"/>
            <a:ext cx="2743200" cy="475488"/>
          </a:xfrm>
          <a:prstGeom prst="roundRect">
            <a:avLst>
              <a:gd name="adj" fmla="val 50000"/>
            </a:avLst>
          </a:prstGeom>
          <a:solidFill>
            <a:srgbClr val="EDF2FF"/>
          </a:solidFill>
          <a:ln w="12700">
            <a:solidFill>
              <a:srgbClr val="BAC8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97880" y="18745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300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elétrica e eletrônica</a:t>
            </a:r>
            <a:endParaRPr lang="pt-BR" sz="1300" dirty="0"/>
          </a:p>
        </p:txBody>
      </p:sp>
      <p:sp>
        <p:nvSpPr>
          <p:cNvPr id="11" name="area"/>
          <p:cNvSpPr/>
          <p:nvPr/>
        </p:nvSpPr>
        <p:spPr>
          <a:xfrm>
            <a:off x="8805672" y="1874520"/>
            <a:ext cx="2743200" cy="475488"/>
          </a:xfrm>
          <a:prstGeom prst="roundRect">
            <a:avLst>
              <a:gd name="adj" fmla="val 50000"/>
            </a:avLst>
          </a:prstGeom>
          <a:solidFill>
            <a:srgbClr val="EDF2FF"/>
          </a:solidFill>
          <a:ln w="12700">
            <a:solidFill>
              <a:srgbClr val="BAC8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05672" y="18745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300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controle</a:t>
            </a:r>
            <a:endParaRPr lang="pt-BR" sz="1300" dirty="0"/>
          </a:p>
        </p:txBody>
      </p:sp>
      <p:sp>
        <p:nvSpPr>
          <p:cNvPr id="13" name="area"/>
          <p:cNvSpPr/>
          <p:nvPr/>
        </p:nvSpPr>
        <p:spPr>
          <a:xfrm>
            <a:off x="5897880" y="2496312"/>
            <a:ext cx="2743200" cy="475488"/>
          </a:xfrm>
          <a:prstGeom prst="roundRect">
            <a:avLst>
              <a:gd name="adj" fmla="val 50000"/>
            </a:avLst>
          </a:prstGeom>
          <a:solidFill>
            <a:srgbClr val="EDF2FF"/>
          </a:solidFill>
          <a:ln w="12700">
            <a:solidFill>
              <a:srgbClr val="BAC8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97880" y="249631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300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Comunicações</a:t>
            </a:r>
            <a:endParaRPr lang="pt-BR" sz="1300" dirty="0"/>
          </a:p>
        </p:txBody>
      </p:sp>
      <p:sp>
        <p:nvSpPr>
          <p:cNvPr id="15" name="area"/>
          <p:cNvSpPr/>
          <p:nvPr/>
        </p:nvSpPr>
        <p:spPr>
          <a:xfrm>
            <a:off x="8805672" y="2496312"/>
            <a:ext cx="2743200" cy="475488"/>
          </a:xfrm>
          <a:prstGeom prst="roundRect">
            <a:avLst>
              <a:gd name="adj" fmla="val 50000"/>
            </a:avLst>
          </a:prstGeom>
          <a:solidFill>
            <a:srgbClr val="FFF4E6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05672" y="249631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3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operacional</a:t>
            </a:r>
            <a:endParaRPr lang="pt-BR" sz="1300" dirty="0"/>
          </a:p>
        </p:txBody>
      </p:sp>
      <p:sp>
        <p:nvSpPr>
          <p:cNvPr id="17" name="area"/>
          <p:cNvSpPr/>
          <p:nvPr/>
        </p:nvSpPr>
        <p:spPr>
          <a:xfrm>
            <a:off x="5897880" y="3118104"/>
            <a:ext cx="2743200" cy="475488"/>
          </a:xfrm>
          <a:prstGeom prst="roundRect">
            <a:avLst>
              <a:gd name="adj" fmla="val 50000"/>
            </a:avLst>
          </a:prstGeom>
          <a:solidFill>
            <a:srgbClr val="EDF2FF"/>
          </a:solidFill>
          <a:ln w="12700">
            <a:solidFill>
              <a:srgbClr val="BAC8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311810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300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mecânica</a:t>
            </a:r>
            <a:endParaRPr lang="pt-BR" sz="1300" dirty="0"/>
          </a:p>
        </p:txBody>
      </p:sp>
      <p:sp>
        <p:nvSpPr>
          <p:cNvPr id="19" name="area"/>
          <p:cNvSpPr/>
          <p:nvPr/>
        </p:nvSpPr>
        <p:spPr>
          <a:xfrm>
            <a:off x="8805672" y="3118104"/>
            <a:ext cx="2743200" cy="475488"/>
          </a:xfrm>
          <a:prstGeom prst="roundRect">
            <a:avLst>
              <a:gd name="adj" fmla="val 50000"/>
            </a:avLst>
          </a:prstGeom>
          <a:solidFill>
            <a:srgbClr val="EDF2FF"/>
          </a:solidFill>
          <a:ln w="12700">
            <a:solidFill>
              <a:srgbClr val="BAC8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05672" y="311810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300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Combustíveis e energia</a:t>
            </a:r>
            <a:endParaRPr lang="pt-BR" sz="1300" dirty="0"/>
          </a:p>
        </p:txBody>
      </p:sp>
      <p:sp>
        <p:nvSpPr>
          <p:cNvPr id="21" name="area"/>
          <p:cNvSpPr/>
          <p:nvPr/>
        </p:nvSpPr>
        <p:spPr>
          <a:xfrm>
            <a:off x="5897880" y="3739896"/>
            <a:ext cx="2743200" cy="475488"/>
          </a:xfrm>
          <a:prstGeom prst="roundRect">
            <a:avLst>
              <a:gd name="adj" fmla="val 50000"/>
            </a:avLst>
          </a:prstGeom>
          <a:solidFill>
            <a:srgbClr val="EDF2FF"/>
          </a:solidFill>
          <a:ln w="12700">
            <a:solidFill>
              <a:srgbClr val="BAC8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97880" y="373989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300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pt-BR" sz="1300" dirty="0"/>
          </a:p>
        </p:txBody>
      </p:sp>
      <p:sp>
        <p:nvSpPr>
          <p:cNvPr id="23" name="area"/>
          <p:cNvSpPr/>
          <p:nvPr/>
        </p:nvSpPr>
        <p:spPr>
          <a:xfrm>
            <a:off x="8805672" y="3739896"/>
            <a:ext cx="2743200" cy="475488"/>
          </a:xfrm>
          <a:prstGeom prst="roundRect">
            <a:avLst>
              <a:gd name="adj" fmla="val 50000"/>
            </a:avLst>
          </a:prstGeom>
          <a:solidFill>
            <a:srgbClr val="EDF2FF"/>
          </a:solidFill>
          <a:ln w="12700">
            <a:solidFill>
              <a:srgbClr val="BAC8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805672" y="373989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300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Química e biologia</a:t>
            </a:r>
            <a:endParaRPr lang="pt-BR" sz="1300" dirty="0"/>
          </a:p>
        </p:txBody>
      </p:sp>
      <p:sp>
        <p:nvSpPr>
          <p:cNvPr id="25" name="card"/>
          <p:cNvSpPr/>
          <p:nvPr/>
        </p:nvSpPr>
        <p:spPr>
          <a:xfrm>
            <a:off x="5897880" y="4526280"/>
            <a:ext cx="5760720" cy="164592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26480" y="4645152"/>
            <a:ext cx="5349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6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tanto uso</a:t>
            </a:r>
            <a:endParaRPr lang="pt-BR" sz="1500" dirty="0"/>
          </a:p>
          <a:p>
            <a:pPr indent="0" marL="0">
              <a:buNone/>
            </a:pPr>
            <a:r>
              <a:rPr lang="pt-BR" sz="13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simples, genérico e combina bem com outros métodos. Existem híbridos de PSO com algoritmo genético, recozimento simulado, evolução diferencial e busca tabu.</a:t>
            </a:r>
            <a:endParaRPr lang="pt-BR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3400" b="1" dirty="0">
                <a:solidFill>
                  <a:srgbClr val="1C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pt-BR" sz="3400" dirty="0"/>
          </a:p>
        </p:txBody>
      </p:sp>
      <p:sp>
        <p:nvSpPr>
          <p:cNvPr id="3" name="pagina"/>
          <p:cNvSpPr txBox="1"/>
          <p:nvPr/>
        </p:nvSpPr>
        <p:spPr>
          <a:xfrm>
            <a:off x="1110996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1000" dirty="0">
                <a:solidFill>
                  <a:srgbClr val="868E96"/>
                </a:solidFill>
              </a:rPr>
              <a:t>21</a:t>
            </a:r>
            <a:endParaRPr lang="pt-BR" sz="1000" dirty="0"/>
          </a:p>
        </p:txBody>
      </p:sp>
      <p:sp>
        <p:nvSpPr>
          <p:cNvPr id="4" name="card"/>
          <p:cNvSpPr/>
          <p:nvPr/>
        </p:nvSpPr>
        <p:spPr>
          <a:xfrm>
            <a:off x="548640" y="1417320"/>
            <a:ext cx="3566160" cy="2834640"/>
          </a:xfrm>
          <a:prstGeom prst="roundRect">
            <a:avLst>
              <a:gd name="adj" fmla="val 3871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" name="numero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pt-BR" sz="2000" dirty="0"/>
          </a:p>
        </p:txBody>
      </p:sp>
      <p:sp>
        <p:nvSpPr>
          <p:cNvPr id="7" name="bloco"/>
          <p:cNvSpPr txBox="1"/>
          <p:nvPr/>
        </p:nvSpPr>
        <p:spPr>
          <a:xfrm>
            <a:off x="822960" y="246888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t-BR" sz="18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 simples, efeito grande</a:t>
            </a:r>
            <a:endParaRPr lang="pt-BR" sz="1500" dirty="0"/>
          </a:p>
          <a:p>
            <a:pPr indent="0" marL="0">
              <a:buNone/>
            </a:pPr>
            <a:r>
              <a:rPr lang="pt-BR" sz="14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equações inspiradas num bando de pássaros resolvem problemas reais de indústria, engenharia e computação.</a:t>
            </a:r>
            <a:endParaRPr lang="pt-BR" sz="1500" dirty="0"/>
          </a:p>
        </p:txBody>
      </p:sp>
      <p:sp>
        <p:nvSpPr>
          <p:cNvPr id="8" name="card"/>
          <p:cNvSpPr/>
          <p:nvPr/>
        </p:nvSpPr>
        <p:spPr>
          <a:xfrm>
            <a:off x="4315968" y="1417320"/>
            <a:ext cx="3566160" cy="2834640"/>
          </a:xfrm>
          <a:prstGeom prst="roundRect">
            <a:avLst>
              <a:gd name="adj" fmla="val 3871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9" name="numero"/>
          <p:cNvSpPr/>
          <p:nvPr/>
        </p:nvSpPr>
        <p:spPr>
          <a:xfrm>
            <a:off x="4590288" y="1645920"/>
            <a:ext cx="640080" cy="640080"/>
          </a:xfrm>
          <a:prstGeom prst="ellipse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0288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sz="2000" dirty="0"/>
          </a:p>
        </p:txBody>
      </p:sp>
      <p:sp>
        <p:nvSpPr>
          <p:cNvPr id="11" name="bloco"/>
          <p:cNvSpPr txBox="1"/>
          <p:nvPr/>
        </p:nvSpPr>
        <p:spPr>
          <a:xfrm>
            <a:off x="4590288" y="246888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t-BR" sz="18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segredo está na codificação</a:t>
            </a:r>
            <a:endParaRPr lang="pt-BR" sz="1500" dirty="0"/>
          </a:p>
          <a:p>
            <a:pPr indent="0" marL="0">
              <a:buNone/>
            </a:pPr>
            <a:r>
              <a:rPr lang="pt-BR" sz="14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Vidro virou ordem e giro de peças. Drones viraram pontos de passagem. Redes viraram hiperparâmetros. Mesmo algoritmo, três mundos.</a:t>
            </a:r>
            <a:endParaRPr lang="pt-BR" sz="1500" dirty="0"/>
          </a:p>
        </p:txBody>
      </p:sp>
      <p:sp>
        <p:nvSpPr>
          <p:cNvPr id="12" name="card"/>
          <p:cNvSpPr/>
          <p:nvPr/>
        </p:nvSpPr>
        <p:spPr>
          <a:xfrm>
            <a:off x="8083296" y="1417320"/>
            <a:ext cx="3566160" cy="2834640"/>
          </a:xfrm>
          <a:prstGeom prst="roundRect">
            <a:avLst>
              <a:gd name="adj" fmla="val 3871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3" name="numero"/>
          <p:cNvSpPr/>
          <p:nvPr/>
        </p:nvSpPr>
        <p:spPr>
          <a:xfrm>
            <a:off x="8357616" y="1645920"/>
            <a:ext cx="640080" cy="64008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7616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2000" dirty="0"/>
          </a:p>
        </p:txBody>
      </p:sp>
      <p:sp>
        <p:nvSpPr>
          <p:cNvPr id="15" name="bloco"/>
          <p:cNvSpPr txBox="1"/>
          <p:nvPr/>
        </p:nvSpPr>
        <p:spPr>
          <a:xfrm>
            <a:off x="8357616" y="246888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pt-BR" sz="1800" b="1" dirty="0">
                <a:solidFill>
                  <a:srgbClr val="1C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bala de prata</a:t>
            </a:r>
            <a:endParaRPr lang="pt-BR" sz="1500" dirty="0"/>
          </a:p>
          <a:p>
            <a:pPr indent="0" marL="0">
              <a:buNone/>
            </a:pPr>
            <a:r>
              <a:rPr lang="pt-BR" sz="14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Convergência prematura e fitness cara pedem cuidado com parâmetros, topologia e variantes.</a:t>
            </a:r>
            <a:endParaRPr lang="pt-BR" sz="1500" dirty="0"/>
          </a:p>
        </p:txBody>
      </p:sp>
      <p:sp>
        <p:nvSpPr>
          <p:cNvPr id="16" name="card"/>
          <p:cNvSpPr/>
          <p:nvPr/>
        </p:nvSpPr>
        <p:spPr>
          <a:xfrm>
            <a:off x="548640" y="4572000"/>
            <a:ext cx="11109960" cy="1143000"/>
          </a:xfrm>
          <a:prstGeom prst="roundRect">
            <a:avLst>
              <a:gd name="adj" fmla="val 96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57200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dá para medir o quanto uma solução é boa, dá para soltar um enxame em cima dela.</a:t>
            </a:r>
            <a:endParaRPr lang="pt-BR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3400" b="1" dirty="0">
                <a:solidFill>
                  <a:srgbClr val="1C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pt-BR" sz="3400" dirty="0"/>
          </a:p>
        </p:txBody>
      </p:sp>
      <p:sp>
        <p:nvSpPr>
          <p:cNvPr id="3" name="pagina"/>
          <p:cNvSpPr txBox="1"/>
          <p:nvPr/>
        </p:nvSpPr>
        <p:spPr>
          <a:xfrm>
            <a:off x="1110996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1000" dirty="0">
                <a:solidFill>
                  <a:srgbClr val="868E96"/>
                </a:solidFill>
              </a:rPr>
              <a:t>22</a:t>
            </a:r>
            <a:endParaRPr lang="pt-BR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44068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pt-BR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AHMED, N.; PAWASE, C. J.; CHANG, K. Distributed 3-D path planning for multi-UAVs with full area surveillance based on particle swarm optimization. Applied Sciences, v. 11, n. 8, p. 3417, 2021.</a:t>
            </a:r>
            <a:endParaRPr lang="pt-BR" sz="1200" dirty="0"/>
          </a:p>
          <a:p>
            <a:pPr indent="0" marL="0">
              <a:spcAft>
                <a:spcPts val="1200"/>
              </a:spcAft>
              <a:buNone/>
            </a:pPr>
            <a:r>
              <a:rPr lang="pt-BR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AYADI, O. et al. A new PSO-based algorithm for two-dimensional non-guillotine non-oriented cutting stock problem. Applied Artificial Intelligence, v. 31, n. 4, p. 376-393, 2017.</a:t>
            </a:r>
            <a:endParaRPr lang="pt-BR" sz="1200" dirty="0"/>
          </a:p>
          <a:p>
            <a:pPr indent="0" marL="0">
              <a:spcAft>
                <a:spcPts val="1200"/>
              </a:spcAft>
              <a:buNone/>
            </a:pPr>
            <a:r>
              <a:rPr lang="pt-BR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BEAN, J. C. Genetics and random keys for sequencing and optimization. ORSA Journal on Computing, v. 6, n. 2, p. 154-160, 1994.</a:t>
            </a:r>
            <a:endParaRPr lang="pt-BR" sz="1200" dirty="0"/>
          </a:p>
          <a:p>
            <a:pPr indent="0" marL="0">
              <a:spcAft>
                <a:spcPts val="1200"/>
              </a:spcAft>
              <a:buNone/>
            </a:pPr>
            <a:r>
              <a:rPr lang="pt-BR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CLERC, M.; KENNEDY, J. The particle swarm: explosion, stability, and convergence in a multidimensional complex space. IEEE Transactions on Evolutionary Computation, v. 6, n. 1, p. 58-73, 2002.</a:t>
            </a:r>
            <a:endParaRPr lang="pt-BR" sz="1200" dirty="0"/>
          </a:p>
          <a:p>
            <a:pPr indent="0" marL="0">
              <a:spcAft>
                <a:spcPts val="1200"/>
              </a:spcAft>
              <a:buNone/>
            </a:pPr>
            <a:r>
              <a:rPr lang="pt-BR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KENNEDY, J.; EBERHART, R. Particle swarm optimization. In: IEEE INTERNATIONAL CONFERENCE ON NEURAL NETWORKS, 1995, Perth. Proceedings [...]. IEEE, 1995. v. 4, p. 1942-1948.</a:t>
            </a:r>
            <a:endParaRPr lang="pt-BR" sz="1200" dirty="0"/>
          </a:p>
          <a:p>
            <a:pPr indent="0" marL="0">
              <a:spcAft>
                <a:spcPts val="1200"/>
              </a:spcAft>
              <a:buNone/>
            </a:pPr>
            <a:r>
              <a:rPr lang="pt-BR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KENNEDY, J.; EBERHART, R. C. A discrete binary version of the particle swarm algorithm. In: IEEE INTERNATIONAL CONFERENCE ON SYSTEMS, MAN, AND CYBERNETICS, 1997, Orlando. Proceedings [...]. IEEE, 1997. v. 5, p. 4104-4108.</a:t>
            </a:r>
            <a:endParaRPr lang="pt-BR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371600"/>
            <a:ext cx="544068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pt-BR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LORENZO, P. R. et al. Particle swarm optimization for hyper-parameter selection in deep neural networks. In: GENETIC AND EVOLUTIONARY COMPUTATION CONFERENCE, 2017, Berlin. Proceedings [...]. ACM, 2017. p. 481-488.</a:t>
            </a:r>
            <a:endParaRPr lang="pt-BR" sz="1200" dirty="0"/>
          </a:p>
          <a:p>
            <a:pPr indent="0" marL="0">
              <a:spcAft>
                <a:spcPts val="1200"/>
              </a:spcAft>
              <a:buNone/>
            </a:pPr>
            <a:r>
              <a:rPr lang="pt-BR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MENG, Q.; CHEN, K.; QU, Q. PPSwarm: multi-UAV path planning based on hybrid PSO in complex scenarios. Drones, v. 8, n. 5, p. 192, 2024.</a:t>
            </a:r>
            <a:endParaRPr lang="pt-BR" sz="1200" dirty="0"/>
          </a:p>
          <a:p>
            <a:pPr indent="0" marL="0">
              <a:spcAft>
                <a:spcPts val="1200"/>
              </a:spcAft>
              <a:buNone/>
            </a:pPr>
            <a:r>
              <a:rPr lang="pt-BR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REYNOLDS, C. W. Flocks, herds and schools: a distributed behavioral model. Computer Graphics, v. 21, n. 4, p. 25-34, 1987.</a:t>
            </a:r>
            <a:endParaRPr lang="pt-BR" sz="1200" dirty="0"/>
          </a:p>
          <a:p>
            <a:pPr indent="0" marL="0">
              <a:spcAft>
                <a:spcPts val="1200"/>
              </a:spcAft>
              <a:buNone/>
            </a:pPr>
            <a:r>
              <a:rPr lang="pt-BR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SHAMI, T. M. et al. Particle swarm optimization: a comprehensive survey. IEEE Access, v. 10, p. 10031-10061, 2022.</a:t>
            </a:r>
            <a:endParaRPr lang="pt-BR" sz="1200" dirty="0"/>
          </a:p>
          <a:p>
            <a:pPr indent="0" marL="0">
              <a:spcAft>
                <a:spcPts val="1200"/>
              </a:spcAft>
              <a:buNone/>
            </a:pPr>
            <a:r>
              <a:rPr lang="pt-BR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SHI, Y.; EBERHART, R. A modified particle swarm optimizer. In: IEEE INTERNATIONAL CONFERENCE ON EVOLUTIONARY COMPUTATION, 1998, Anchorage. Proceedings [...]. IEEE, 1998. p. 69-73.</a:t>
            </a:r>
            <a:endParaRPr lang="pt-BR" sz="1200" dirty="0"/>
          </a:p>
          <a:p>
            <a:pPr indent="0" marL="0">
              <a:spcAft>
                <a:spcPts val="1200"/>
              </a:spcAft>
              <a:buNone/>
            </a:pPr>
            <a:r>
              <a:rPr lang="pt-BR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ZHANG, Y.; WANG, S.; JI, G. A comprehensive survey on particle swarm optimization algorithm and its applications. Mathematical Problems in Engineering, v. 2015, 931256, 2015.</a:t>
            </a:r>
            <a:endParaRPr lang="pt-BR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ina"/>
          <p:cNvSpPr txBox="1"/>
          <p:nvPr/>
        </p:nvSpPr>
        <p:spPr>
          <a:xfrm>
            <a:off x="1110996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1000" dirty="0">
                <a:solidFill>
                  <a:srgbClr val="CED4DA"/>
                </a:solidFill>
              </a:rPr>
              <a:t>23</a:t>
            </a:r>
            <a:endParaRPr lang="pt-BR" sz="1000" dirty="0"/>
          </a:p>
        </p:txBody>
      </p:sp>
      <p:pic>
        <p:nvPicPr>
          <p:cNvPr id="3" name="obrigado_particulas" descr="assets/obrigado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685800"/>
            <a:ext cx="9235440" cy="2902401"/>
          </a:xfrm>
          <a:prstGeom prst="rect">
            <a:avLst/>
          </a:prstGeom>
        </p:spPr>
      </p:pic>
      <p:sp>
        <p:nvSpPr>
          <p:cNvPr id="4" name="obrigado_nome"/>
          <p:cNvSpPr txBox="1"/>
          <p:nvPr/>
        </p:nvSpPr>
        <p:spPr>
          <a:xfrm>
            <a:off x="1463040" y="3794760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Eduardo Andrei Staudt</a:t>
            </a:r>
            <a:endParaRPr lang="pt-BR" sz="2800" dirty="0"/>
          </a:p>
        </p:txBody>
      </p:sp>
      <p:sp>
        <p:nvSpPr>
          <p:cNvPr id="5" name="obrigado_contato"/>
          <p:cNvSpPr txBox="1"/>
          <p:nvPr/>
        </p:nvSpPr>
        <p:spPr>
          <a:xfrm>
            <a:off x="1463040" y="4434840"/>
            <a:ext cx="923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700" dirty="0">
                <a:solidFill>
                  <a:srgbClr val="CE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2783045  |  programadorstaudt@gmail.com</a:t>
            </a:r>
            <a:endParaRPr lang="pt-BR" sz="1700" dirty="0"/>
          </a:p>
        </p:txBody>
      </p:sp>
      <p:sp>
        <p:nvSpPr>
          <p:cNvPr id="6" name="obrigado_materia"/>
          <p:cNvSpPr txBox="1"/>
          <p:nvPr/>
        </p:nvSpPr>
        <p:spPr>
          <a:xfrm>
            <a:off x="1463040" y="4937760"/>
            <a:ext cx="923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5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e Ordenação (CC4PO)  |  UTFPR Santa Helena  |  2026</a:t>
            </a:r>
            <a:endParaRPr lang="pt-BR" sz="1500" dirty="0"/>
          </a:p>
        </p:txBody>
      </p:sp>
      <p:sp>
        <p:nvSpPr>
          <p:cNvPr id="8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pt-BR" sz="3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65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theme/theme1.xml><?xml version="1.0" encoding="utf-8"?>
<a:theme xmlns:a="http://schemas.openxmlformats.org/drawingml/2006/main" name="PSO RT2">
  <a:themeElements>
    <a:clrScheme name="PSO RT2">
      <a:dk1>
        <a:srgbClr val="1C1F23"/>
      </a:dk1>
      <a:lt1>
        <a:srgbClr val="FFFFFF"/>
      </a:lt1>
      <a:dk2>
        <a:srgbClr val="343A40"/>
      </a:dk2>
      <a:lt2>
        <a:srgbClr val="F1F3F5"/>
      </a:lt2>
      <a:accent1>
        <a:srgbClr val="3B5BDB"/>
      </a:accent1>
      <a:accent2>
        <a:srgbClr val="E8590C"/>
      </a:accent2>
      <a:accent3>
        <a:srgbClr val="2F9E44"/>
      </a:accent3>
      <a:accent4>
        <a:srgbClr val="6C757D"/>
      </a:accent4>
      <a:accent5>
        <a:srgbClr val="7048E8"/>
      </a:accent5>
      <a:accent6>
        <a:srgbClr val="1098AD"/>
      </a:accent6>
      <a:hlink>
        <a:srgbClr val="3B5BDB"/>
      </a:hlink>
      <a:folHlink>
        <a:srgbClr val="7048E8"/>
      </a:folHlink>
    </a:clrScheme>
    <a:fontScheme name="PSO RT2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Particle Swarm Optimization (PSO)</dc:title>
  <dc:subject>PptxGenJS Presentation</dc:subject>
  <dc:creator>Eduardo Andrei Staudt</dc:creator>
  <cp:lastModifiedBy>Eduardo Andrei Staudt</cp:lastModifiedBy>
  <cp:revision>1</cp:revision>
  <dcterms:created xsi:type="dcterms:W3CDTF">2026-10-27T21:52:57Z</dcterms:created>
  <dcterms:modified xsi:type="dcterms:W3CDTF">2026-10-27T21:52:57Z</dcterms:modified>
</cp:coreProperties>
</file>